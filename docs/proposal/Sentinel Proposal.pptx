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7" r:id="rId4"/>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h1c30eda1fcd5026_6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h1c30eda1fcd5026_6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Hi everyone, we're Sentinel. Picture a dashboard where everything is green: every service up, every job passing. Our question is simple. The pipeline is green, but is the data healthy?</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h1c30eda1fcd5026_6_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h1c30eda1fcd5026_6_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A pipeline can run perfectly on bad data. Kafka streams it, the pipeline processes it, the database stores it. Garbage in, garbage out. Sometimes something breaks, and data engineers and quality teams have to find what changed, where, and when. The dangerous case is when nothing breaks. Everything stays green while analysts, data scientists, BI and ML teams quietly build on bad data. Infrastructure monitoring asks: is it running? We ask: can we trust the data?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1c30eda1fcd5026_6_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h1c30eda1fcd5026_6_5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Sentinel isn't a black box. It's a Python detection engine reading the Kafka stream. First it validates each FHIR record against the expected contract. Then it profiles the stream in time windows: null rates, volume, distributions. Those measurements are compared with configurable thresholds and historical baselines. When something changes significantly, Sentinel opens an incident: what changed, where, and when. It doesn't claim to know why. It gives engineers a place to start.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5626eead0d1b313b_1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h5626eead0d1b313b_1_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So how do we test this without real patient data? Synthea generates synthetic patients as FHIR, the healthcare data standard, which Saudi Arabia's NPHIES also uses. HAPI is an optional FHIR server. A Python producer replays those records into Kafka as a live stream and injects failures on purpose. We have no hospital feed and don't want sensitive records, and that's an advantage: we know what failure we injected and when. Sentinel doesn't. It has to catch it on its own. Synthea and FHIR both have published research behind them, and we only need realistic structure, not clinical truth. Sentinel stores metrics, baselines, schemas and incidents in PostgreSQL, not the whole stream.</a:t>
            </a:r>
            <a:endParaRPr/>
          </a:p>
          <a:p>
            <a:pPr indent="0" lvl="0" marL="0" rtl="0" algn="l">
              <a:spcBef>
                <a:spcPts val="0"/>
              </a:spcBef>
              <a:spcAft>
                <a:spcPts val="0"/>
              </a:spcAft>
              <a:buNone/>
            </a:pPr>
            <a:r>
              <a:t/>
            </a:r>
            <a:endParaRPr sz="1200">
              <a:solidFill>
                <a:srgbClr val="07111F"/>
              </a:solidFill>
              <a:latin typeface="Calibri"/>
              <a:ea typeface="Calibri"/>
              <a:cs typeface="Calibri"/>
              <a:sym typeface="Calibri"/>
            </a:endParaRPr>
          </a:p>
          <a:p>
            <a:pPr indent="0" lvl="0" marL="0" rtl="0" algn="l">
              <a:spcBef>
                <a:spcPts val="0"/>
              </a:spcBef>
              <a:spcAft>
                <a:spcPts val="0"/>
              </a:spcAft>
              <a:buNone/>
            </a:pPr>
            <a:r>
              <a:rPr lang="en" sz="1200">
                <a:solidFill>
                  <a:srgbClr val="07111F"/>
                </a:solidFill>
                <a:latin typeface="Calibri"/>
                <a:ea typeface="Calibri"/>
                <a:cs typeface="Calibri"/>
                <a:sym typeface="Calibri"/>
              </a:rPr>
              <a:t>[Database model for Q&amp;A/README (not on slides): resources(resource_id PK, resource_type); quality_metrics(metric_id PK, resource_id FK, field_name, metric_name, metric_value, window_start, window_end); schema_history(schema_id PK, resource_id FK, schema_version, schema_definition JSONB, detected_at); incidents(incident_id PK, resource_id FK, metric_id FK NULL, schema_id FK NULL, field_name, incident_type, severity, baseline_value, current_value, detected_at, status). resources 1:N each of the other three; quality_metrics and schema_history 1:0..N incidents. PostgreSQL stores monitoring state only; Kafka carries the FHIR stream.]</a:t>
            </a:r>
            <a:endParaRPr/>
          </a:p>
          <a:p>
            <a:pPr indent="0" lvl="0" marL="0" rtl="0" algn="l">
              <a:spcBef>
                <a:spcPts val="0"/>
              </a:spcBef>
              <a:spcAft>
                <a:spcPts val="0"/>
              </a:spcAft>
              <a:buNone/>
            </a:pPr>
            <a:r>
              <a:t/>
            </a:r>
            <a:endParaRPr sz="1200">
              <a:solidFill>
                <a:srgbClr val="07111F"/>
              </a:solidFill>
              <a:latin typeface="Calibri"/>
              <a:ea typeface="Calibri"/>
              <a:cs typeface="Calibri"/>
              <a:sym typeface="Calibri"/>
            </a:endParaRPr>
          </a:p>
          <a:p>
            <a:pPr indent="0" lvl="0" marL="0" rtl="0" algn="l">
              <a:spcBef>
                <a:spcPts val="0"/>
              </a:spcBef>
              <a:spcAft>
                <a:spcPts val="0"/>
              </a:spcAft>
              <a:buNone/>
            </a:pPr>
            <a:r>
              <a:rPr lang="en" sz="1200">
                <a:solidFill>
                  <a:srgbClr val="07111F"/>
                </a:solidFill>
                <a:latin typeface="Calibri"/>
                <a:ea typeface="Calibri"/>
                <a:cs typeface="Calibri"/>
                <a:sym typeface="Calibri"/>
              </a:rPr>
              <a:t>[Sources for Q&amp;A: Walonoski et al., JAMIA 2018;25(3):230-238 (Synthea). Mandel et al., JAMIA 2016;23(5):899-908 (SMART on FHIR). JAMIA 2021;28(10):2220-2225 (FHIR-based real-time EHR integration). NPHIES implementation guide: portal.nphies.sa/ig (FHIR-based claims exchange; do not claim clinical records). hapi.fhir.org/about: public HAPI server is a reset-prone test server, so keep it optional. Limitation: Synthea is US-centric, model-generated, not equivalent to real clinical data. Saudi context for Q&amp;A only, no endorsement or partnership implied: MOH, CHI/NPHIES, SDAIA/NDMO, SCFHS.]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h1c30eda1fcd5026_6_1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h1c30eda1fcd5026_6_1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Appendix slide after Questions, not part of the 3-minute talk; use it in Q&amp;A. PostgreSQL holds Sentinel's monitoring state only. Kafka carries the FHIR stream. resources 1:N quality_metrics, schema_history and incidents; quality_metrics and schema_history are each 1:0..N incidents. Schema definitions are stored as JSONB. Baselines are not a separate table for the MVP: baseline = median of the first N warm-up windows (e.g. 10 x 30 s), frozen for the experiment; volume baseline = rolling median of recent non-incident windows; incidents snapshot baseline_value and current_value. Optional baselines table if needed: baseline_id PK, resource_id FK, field_name, metric_name, baseline_value, computed_at, window_count. Kept simple for a five-day MVP.</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1c30eda1fcd5026_6_1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h1c30eda1fcd5026_6_1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This is what we'd build: a data health dashboard. Overall health, status per FHIR resource, and the active incident front and center. Here, an Observation field went from one percent null to almost forty, detected at 14:42. Other tabs cover quality, schema changes and incident history. We're not just moving healthcare data. We're combining streaming, data quality, schema monitoring, drift detection and observability to build the layer that tells us whether that data can still be trusted. A green pipeline does not always mean healthy data.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h1c30eda1fcd5026_6_1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h1c30eda1fcd5026_6_1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sz="1200">
                <a:solidFill>
                  <a:srgbClr val="07111F"/>
                </a:solidFill>
                <a:latin typeface="Calibri"/>
                <a:ea typeface="Calibri"/>
                <a:cs typeface="Calibri"/>
                <a:sym typeface="Calibri"/>
              </a:rPr>
              <a:t>Questions? (No new information on this slide.)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HERO" type="tx">
  <p:cSld name="TITLE_AND_BODY">
    <p:bg>
      <p:bgPr>
        <a:blipFill>
          <a:blip r:embed="rId2">
            <a:alphaModFix/>
          </a:blip>
          <a:stretch>
            <a:fillRect/>
          </a:stretch>
        </a:blipFill>
      </p:bgPr>
    </p:bg>
    <p:spTree>
      <p:nvGrpSpPr>
        <p:cNvPr id="54" name="Shape 54"/>
        <p:cNvGrpSpPr/>
        <p:nvPr/>
      </p:nvGrpSpPr>
      <p:grpSpPr>
        <a:xfrm>
          <a:off x="0" y="0"/>
          <a:ext cx="0" cy="0"/>
          <a:chOff x="0" y="0"/>
          <a:chExt cx="0" cy="0"/>
        </a:xfrm>
      </p:grpSpPr>
      <p:sp>
        <p:nvSpPr>
          <p:cNvPr id="55" name="Google Shape;55;p14"/>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56" name="Google Shape;56;p14"/>
          <p:cNvPicPr preferRelativeResize="0"/>
          <p:nvPr/>
        </p:nvPicPr>
        <p:blipFill rotWithShape="1">
          <a:blip r:embed="rId3">
            <a:alphaModFix/>
          </a:blip>
          <a:srcRect b="0" l="0" r="0" t="0"/>
          <a:stretch/>
        </p:blipFill>
        <p:spPr>
          <a:xfrm>
            <a:off x="514350" y="150876"/>
            <a:ext cx="617221" cy="214655"/>
          </a:xfrm>
          <a:prstGeom prst="rect">
            <a:avLst/>
          </a:prstGeom>
          <a:noFill/>
          <a:ln>
            <a:noFill/>
          </a:ln>
        </p:spPr>
      </p:pic>
      <p:pic>
        <p:nvPicPr>
          <p:cNvPr descr="Image 1" id="57" name="Google Shape;57;p14"/>
          <p:cNvPicPr preferRelativeResize="0"/>
          <p:nvPr/>
        </p:nvPicPr>
        <p:blipFill rotWithShape="1">
          <a:blip r:embed="rId4">
            <a:alphaModFix/>
          </a:blip>
          <a:srcRect b="0" l="0" r="0" t="0"/>
          <a:stretch/>
        </p:blipFill>
        <p:spPr>
          <a:xfrm>
            <a:off x="8455914" y="116585"/>
            <a:ext cx="274321" cy="274321"/>
          </a:xfrm>
          <a:prstGeom prst="rect">
            <a:avLst/>
          </a:prstGeom>
          <a:noFill/>
          <a:ln>
            <a:noFill/>
          </a:ln>
        </p:spPr>
      </p:pic>
      <p:sp>
        <p:nvSpPr>
          <p:cNvPr id="58" name="Google Shape;58;p14"/>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CONTENT">
  <p:cSld name="SENTINEL_CONTENT">
    <p:bg>
      <p:bgPr>
        <a:solidFill>
          <a:srgbClr val="07111F"/>
        </a:solidFill>
      </p:bgPr>
    </p:bg>
    <p:spTree>
      <p:nvGrpSpPr>
        <p:cNvPr id="59" name="Shape 59"/>
        <p:cNvGrpSpPr/>
        <p:nvPr/>
      </p:nvGrpSpPr>
      <p:grpSpPr>
        <a:xfrm>
          <a:off x="0" y="0"/>
          <a:ext cx="0" cy="0"/>
          <a:chOff x="0" y="0"/>
          <a:chExt cx="0" cy="0"/>
        </a:xfrm>
      </p:grpSpPr>
      <p:sp>
        <p:nvSpPr>
          <p:cNvPr id="60" name="Google Shape;60;p15"/>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61" name="Google Shape;61;p15"/>
          <p:cNvPicPr preferRelativeResize="0"/>
          <p:nvPr/>
        </p:nvPicPr>
        <p:blipFill rotWithShape="1">
          <a:blip r:embed="rId2">
            <a:alphaModFix/>
          </a:blip>
          <a:srcRect b="0" l="0" r="0" t="0"/>
          <a:stretch/>
        </p:blipFill>
        <p:spPr>
          <a:xfrm>
            <a:off x="514350" y="150876"/>
            <a:ext cx="617221" cy="214655"/>
          </a:xfrm>
          <a:prstGeom prst="rect">
            <a:avLst/>
          </a:prstGeom>
          <a:noFill/>
          <a:ln>
            <a:noFill/>
          </a:ln>
        </p:spPr>
      </p:pic>
      <p:pic>
        <p:nvPicPr>
          <p:cNvPr descr="Image 1" id="62" name="Google Shape;62;p15"/>
          <p:cNvPicPr preferRelativeResize="0"/>
          <p:nvPr/>
        </p:nvPicPr>
        <p:blipFill rotWithShape="1">
          <a:blip r:embed="rId3">
            <a:alphaModFix/>
          </a:blip>
          <a:srcRect b="0" l="0" r="0" t="0"/>
          <a:stretch/>
        </p:blipFill>
        <p:spPr>
          <a:xfrm>
            <a:off x="8455914" y="116585"/>
            <a:ext cx="274321" cy="274321"/>
          </a:xfrm>
          <a:prstGeom prst="rect">
            <a:avLst/>
          </a:prstGeom>
          <a:noFill/>
          <a:ln>
            <a:noFill/>
          </a:ln>
        </p:spPr>
      </p:pic>
      <p:pic>
        <p:nvPicPr>
          <p:cNvPr descr="Image 2" id="63" name="Google Shape;63;p15"/>
          <p:cNvPicPr preferRelativeResize="0"/>
          <p:nvPr/>
        </p:nvPicPr>
        <p:blipFill rotWithShape="1">
          <a:blip r:embed="rId4">
            <a:alphaModFix/>
          </a:blip>
          <a:srcRect b="0" l="0" r="0" t="0"/>
          <a:stretch/>
        </p:blipFill>
        <p:spPr>
          <a:xfrm>
            <a:off x="411480" y="4800600"/>
            <a:ext cx="192025" cy="192024"/>
          </a:xfrm>
          <a:prstGeom prst="rect">
            <a:avLst/>
          </a:prstGeom>
          <a:noFill/>
          <a:ln>
            <a:noFill/>
          </a:ln>
        </p:spPr>
      </p:pic>
      <p:sp>
        <p:nvSpPr>
          <p:cNvPr id="64" name="Google Shape;64;p15"/>
          <p:cNvSpPr txBox="1"/>
          <p:nvPr/>
        </p:nvSpPr>
        <p:spPr>
          <a:xfrm>
            <a:off x="685800" y="4852068"/>
            <a:ext cx="5486400" cy="1028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SENTINEL  ·  Capstone proposal  ·  Healthcare data reliability</a:t>
            </a:r>
            <a:endParaRPr sz="1100"/>
          </a:p>
        </p:txBody>
      </p:sp>
      <p:sp>
        <p:nvSpPr>
          <p:cNvPr id="65" name="Google Shape;65;p15"/>
          <p:cNvSpPr txBox="1"/>
          <p:nvPr>
            <p:ph type="title"/>
          </p:nvPr>
        </p:nvSpPr>
        <p:spPr>
          <a:xfrm>
            <a:off x="411480" y="548639"/>
            <a:ext cx="8318754" cy="582931"/>
          </a:xfrm>
          <a:prstGeom prst="rect">
            <a:avLst/>
          </a:prstGeom>
          <a:noFill/>
          <a:ln>
            <a:noFill/>
          </a:ln>
        </p:spPr>
        <p:txBody>
          <a:bodyPr anchorCtr="0" anchor="t" bIns="34275" lIns="34275" spcFirstLastPara="1" rIns="34275" wrap="square" tIns="34275">
            <a:normAutofit/>
          </a:bodyPr>
          <a:lstStyle>
            <a:lvl1pPr lvl="0" algn="l">
              <a:lnSpc>
                <a:spcPct val="100000"/>
              </a:lnSpc>
              <a:spcBef>
                <a:spcPts val="0"/>
              </a:spcBef>
              <a:spcAft>
                <a:spcPts val="0"/>
              </a:spcAft>
              <a:buClr>
                <a:srgbClr val="F1F5F9"/>
              </a:buClr>
              <a:buSzPts val="2400"/>
              <a:buFont typeface="Calibri"/>
              <a:buNone/>
              <a:defRPr b="1" sz="2400">
                <a:solidFill>
                  <a:srgbClr val="F1F5F9"/>
                </a:solidFill>
              </a:defRPr>
            </a:lvl1pPr>
            <a:lvl2pPr lvl="1" algn="ctr">
              <a:lnSpc>
                <a:spcPct val="100000"/>
              </a:lnSpc>
              <a:spcBef>
                <a:spcPts val="0"/>
              </a:spcBef>
              <a:spcAft>
                <a:spcPts val="0"/>
              </a:spcAft>
              <a:buClr>
                <a:srgbClr val="07111F"/>
              </a:buClr>
              <a:buSzPts val="1400"/>
              <a:buNone/>
              <a:defRPr/>
            </a:lvl2pPr>
            <a:lvl3pPr lvl="2" algn="ctr">
              <a:lnSpc>
                <a:spcPct val="100000"/>
              </a:lnSpc>
              <a:spcBef>
                <a:spcPts val="0"/>
              </a:spcBef>
              <a:spcAft>
                <a:spcPts val="0"/>
              </a:spcAft>
              <a:buClr>
                <a:srgbClr val="07111F"/>
              </a:buClr>
              <a:buSzPts val="1400"/>
              <a:buNone/>
              <a:defRPr/>
            </a:lvl3pPr>
            <a:lvl4pPr lvl="3" algn="ctr">
              <a:lnSpc>
                <a:spcPct val="100000"/>
              </a:lnSpc>
              <a:spcBef>
                <a:spcPts val="0"/>
              </a:spcBef>
              <a:spcAft>
                <a:spcPts val="0"/>
              </a:spcAft>
              <a:buClr>
                <a:srgbClr val="07111F"/>
              </a:buClr>
              <a:buSzPts val="1400"/>
              <a:buNone/>
              <a:defRPr/>
            </a:lvl4pPr>
            <a:lvl5pPr lvl="4" algn="ctr">
              <a:lnSpc>
                <a:spcPct val="100000"/>
              </a:lnSpc>
              <a:spcBef>
                <a:spcPts val="0"/>
              </a:spcBef>
              <a:spcAft>
                <a:spcPts val="0"/>
              </a:spcAft>
              <a:buClr>
                <a:srgbClr val="07111F"/>
              </a:buClr>
              <a:buSzPts val="1400"/>
              <a:buNone/>
              <a:defRPr/>
            </a:lvl5pPr>
            <a:lvl6pPr lvl="5" algn="ctr">
              <a:lnSpc>
                <a:spcPct val="100000"/>
              </a:lnSpc>
              <a:spcBef>
                <a:spcPts val="0"/>
              </a:spcBef>
              <a:spcAft>
                <a:spcPts val="0"/>
              </a:spcAft>
              <a:buClr>
                <a:srgbClr val="07111F"/>
              </a:buClr>
              <a:buSzPts val="1400"/>
              <a:buNone/>
              <a:defRPr/>
            </a:lvl6pPr>
            <a:lvl7pPr lvl="6" algn="ctr">
              <a:lnSpc>
                <a:spcPct val="100000"/>
              </a:lnSpc>
              <a:spcBef>
                <a:spcPts val="0"/>
              </a:spcBef>
              <a:spcAft>
                <a:spcPts val="0"/>
              </a:spcAft>
              <a:buClr>
                <a:srgbClr val="07111F"/>
              </a:buClr>
              <a:buSzPts val="1400"/>
              <a:buNone/>
              <a:defRPr/>
            </a:lvl7pPr>
            <a:lvl8pPr lvl="7" algn="ctr">
              <a:lnSpc>
                <a:spcPct val="100000"/>
              </a:lnSpc>
              <a:spcBef>
                <a:spcPts val="0"/>
              </a:spcBef>
              <a:spcAft>
                <a:spcPts val="0"/>
              </a:spcAft>
              <a:buClr>
                <a:srgbClr val="07111F"/>
              </a:buClr>
              <a:buSzPts val="1400"/>
              <a:buNone/>
              <a:defRPr/>
            </a:lvl8pPr>
            <a:lvl9pPr lvl="8" algn="ctr">
              <a:lnSpc>
                <a:spcPct val="100000"/>
              </a:lnSpc>
              <a:spcBef>
                <a:spcPts val="0"/>
              </a:spcBef>
              <a:spcAft>
                <a:spcPts val="0"/>
              </a:spcAft>
              <a:buClr>
                <a:srgbClr val="07111F"/>
              </a:buClr>
              <a:buSzPts val="1400"/>
              <a:buNone/>
              <a:defRPr/>
            </a:lvl9pPr>
          </a:lstStyle>
          <a:p/>
        </p:txBody>
      </p:sp>
      <p:sp>
        <p:nvSpPr>
          <p:cNvPr id="66" name="Google Shape;66;p15"/>
          <p:cNvSpPr txBox="1"/>
          <p:nvPr>
            <p:ph idx="12" type="sldNum"/>
          </p:nvPr>
        </p:nvSpPr>
        <p:spPr>
          <a:xfrm>
            <a:off x="8172792" y="137159"/>
            <a:ext cx="193969" cy="186230"/>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CLOSE">
  <p:cSld name="SENTINEL_CLOSE">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6"/>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69" name="Google Shape;69;p16"/>
          <p:cNvPicPr preferRelativeResize="0"/>
          <p:nvPr/>
        </p:nvPicPr>
        <p:blipFill rotWithShape="1">
          <a:blip r:embed="rId3">
            <a:alphaModFix/>
          </a:blip>
          <a:srcRect b="0" l="0" r="0" t="0"/>
          <a:stretch/>
        </p:blipFill>
        <p:spPr>
          <a:xfrm>
            <a:off x="514350" y="150876"/>
            <a:ext cx="617221" cy="214655"/>
          </a:xfrm>
          <a:prstGeom prst="rect">
            <a:avLst/>
          </a:prstGeom>
          <a:noFill/>
          <a:ln>
            <a:noFill/>
          </a:ln>
        </p:spPr>
      </p:pic>
      <p:pic>
        <p:nvPicPr>
          <p:cNvPr descr="Image 1" id="70" name="Google Shape;70;p16"/>
          <p:cNvPicPr preferRelativeResize="0"/>
          <p:nvPr/>
        </p:nvPicPr>
        <p:blipFill rotWithShape="1">
          <a:blip r:embed="rId4">
            <a:alphaModFix/>
          </a:blip>
          <a:srcRect b="0" l="0" r="0" t="0"/>
          <a:stretch/>
        </p:blipFill>
        <p:spPr>
          <a:xfrm>
            <a:off x="8455914" y="116585"/>
            <a:ext cx="274321" cy="274321"/>
          </a:xfrm>
          <a:prstGeom prst="rect">
            <a:avLst/>
          </a:prstGeom>
          <a:noFill/>
          <a:ln>
            <a:noFill/>
          </a:ln>
        </p:spPr>
      </p:pic>
      <p:sp>
        <p:nvSpPr>
          <p:cNvPr id="71" name="Google Shape;71;p16"/>
          <p:cNvSpPr txBox="1"/>
          <p:nvPr>
            <p:ph idx="12" type="sldNum"/>
          </p:nvPr>
        </p:nvSpPr>
        <p:spPr>
          <a:xfrm>
            <a:off x="8172792" y="137159"/>
            <a:ext cx="193969" cy="186230"/>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72" name="Shape 72"/>
        <p:cNvGrpSpPr/>
        <p:nvPr/>
      </p:nvGrpSpPr>
      <p:grpSpPr>
        <a:xfrm>
          <a:off x="0" y="0"/>
          <a:ext cx="0" cy="0"/>
          <a:chOff x="0" y="0"/>
          <a:chExt cx="0" cy="0"/>
        </a:xfrm>
      </p:grpSpPr>
      <p:sp>
        <p:nvSpPr>
          <p:cNvPr id="73" name="Google Shape;73;p17"/>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HERO" type="tx">
  <p:cSld name="TITLE_AND_BODY">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9"/>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80" name="Google Shape;80;p19"/>
          <p:cNvPicPr preferRelativeResize="0"/>
          <p:nvPr/>
        </p:nvPicPr>
        <p:blipFill rotWithShape="1">
          <a:blip r:embed="rId3">
            <a:alphaModFix/>
          </a:blip>
          <a:srcRect b="0" l="0" r="0" t="0"/>
          <a:stretch/>
        </p:blipFill>
        <p:spPr>
          <a:xfrm>
            <a:off x="514350" y="150876"/>
            <a:ext cx="617221" cy="214655"/>
          </a:xfrm>
          <a:prstGeom prst="rect">
            <a:avLst/>
          </a:prstGeom>
          <a:noFill/>
          <a:ln>
            <a:noFill/>
          </a:ln>
        </p:spPr>
      </p:pic>
      <p:pic>
        <p:nvPicPr>
          <p:cNvPr descr="Image 1" id="81" name="Google Shape;81;p19"/>
          <p:cNvPicPr preferRelativeResize="0"/>
          <p:nvPr/>
        </p:nvPicPr>
        <p:blipFill rotWithShape="1">
          <a:blip r:embed="rId4">
            <a:alphaModFix/>
          </a:blip>
          <a:srcRect b="0" l="0" r="0" t="0"/>
          <a:stretch/>
        </p:blipFill>
        <p:spPr>
          <a:xfrm>
            <a:off x="8455914" y="116585"/>
            <a:ext cx="274321" cy="274321"/>
          </a:xfrm>
          <a:prstGeom prst="rect">
            <a:avLst/>
          </a:prstGeom>
          <a:noFill/>
          <a:ln>
            <a:noFill/>
          </a:ln>
        </p:spPr>
      </p:pic>
      <p:sp>
        <p:nvSpPr>
          <p:cNvPr id="82" name="Google Shape;82;p19"/>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CONTENT">
  <p:cSld name="SENTINEL_CONTENT">
    <p:bg>
      <p:bgPr>
        <a:solidFill>
          <a:srgbClr val="07111F"/>
        </a:solidFill>
      </p:bgPr>
    </p:bg>
    <p:spTree>
      <p:nvGrpSpPr>
        <p:cNvPr id="83" name="Shape 83"/>
        <p:cNvGrpSpPr/>
        <p:nvPr/>
      </p:nvGrpSpPr>
      <p:grpSpPr>
        <a:xfrm>
          <a:off x="0" y="0"/>
          <a:ext cx="0" cy="0"/>
          <a:chOff x="0" y="0"/>
          <a:chExt cx="0" cy="0"/>
        </a:xfrm>
      </p:grpSpPr>
      <p:sp>
        <p:nvSpPr>
          <p:cNvPr id="84" name="Google Shape;84;p20"/>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85" name="Google Shape;85;p20"/>
          <p:cNvPicPr preferRelativeResize="0"/>
          <p:nvPr/>
        </p:nvPicPr>
        <p:blipFill rotWithShape="1">
          <a:blip r:embed="rId2">
            <a:alphaModFix/>
          </a:blip>
          <a:srcRect b="0" l="0" r="0" t="0"/>
          <a:stretch/>
        </p:blipFill>
        <p:spPr>
          <a:xfrm>
            <a:off x="514350" y="150876"/>
            <a:ext cx="617221" cy="214655"/>
          </a:xfrm>
          <a:prstGeom prst="rect">
            <a:avLst/>
          </a:prstGeom>
          <a:noFill/>
          <a:ln>
            <a:noFill/>
          </a:ln>
        </p:spPr>
      </p:pic>
      <p:pic>
        <p:nvPicPr>
          <p:cNvPr descr="Image 1" id="86" name="Google Shape;86;p20"/>
          <p:cNvPicPr preferRelativeResize="0"/>
          <p:nvPr/>
        </p:nvPicPr>
        <p:blipFill rotWithShape="1">
          <a:blip r:embed="rId3">
            <a:alphaModFix/>
          </a:blip>
          <a:srcRect b="0" l="0" r="0" t="0"/>
          <a:stretch/>
        </p:blipFill>
        <p:spPr>
          <a:xfrm>
            <a:off x="8455914" y="116585"/>
            <a:ext cx="274321" cy="274321"/>
          </a:xfrm>
          <a:prstGeom prst="rect">
            <a:avLst/>
          </a:prstGeom>
          <a:noFill/>
          <a:ln>
            <a:noFill/>
          </a:ln>
        </p:spPr>
      </p:pic>
      <p:pic>
        <p:nvPicPr>
          <p:cNvPr descr="Image 2" id="87" name="Google Shape;87;p20"/>
          <p:cNvPicPr preferRelativeResize="0"/>
          <p:nvPr/>
        </p:nvPicPr>
        <p:blipFill rotWithShape="1">
          <a:blip r:embed="rId4">
            <a:alphaModFix/>
          </a:blip>
          <a:srcRect b="0" l="0" r="0" t="0"/>
          <a:stretch/>
        </p:blipFill>
        <p:spPr>
          <a:xfrm>
            <a:off x="411480" y="4800600"/>
            <a:ext cx="192025" cy="192024"/>
          </a:xfrm>
          <a:prstGeom prst="rect">
            <a:avLst/>
          </a:prstGeom>
          <a:noFill/>
          <a:ln>
            <a:noFill/>
          </a:ln>
        </p:spPr>
      </p:pic>
      <p:sp>
        <p:nvSpPr>
          <p:cNvPr id="88" name="Google Shape;88;p20"/>
          <p:cNvSpPr txBox="1"/>
          <p:nvPr/>
        </p:nvSpPr>
        <p:spPr>
          <a:xfrm>
            <a:off x="685800" y="4852068"/>
            <a:ext cx="5486400" cy="10280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SENTINEL  ·  Capstone proposal  ·  Healthcare data reliability</a:t>
            </a:r>
            <a:endParaRPr sz="1100"/>
          </a:p>
        </p:txBody>
      </p:sp>
      <p:sp>
        <p:nvSpPr>
          <p:cNvPr id="89" name="Google Shape;89;p20"/>
          <p:cNvSpPr txBox="1"/>
          <p:nvPr>
            <p:ph type="title"/>
          </p:nvPr>
        </p:nvSpPr>
        <p:spPr>
          <a:xfrm>
            <a:off x="411480" y="548639"/>
            <a:ext cx="8318754" cy="582931"/>
          </a:xfrm>
          <a:prstGeom prst="rect">
            <a:avLst/>
          </a:prstGeom>
          <a:noFill/>
          <a:ln>
            <a:noFill/>
          </a:ln>
        </p:spPr>
        <p:txBody>
          <a:bodyPr anchorCtr="0" anchor="t" bIns="34275" lIns="34275" spcFirstLastPara="1" rIns="34275" wrap="square" tIns="34275">
            <a:normAutofit/>
          </a:bodyPr>
          <a:lstStyle>
            <a:lvl1pPr lvl="0" algn="l">
              <a:lnSpc>
                <a:spcPct val="100000"/>
              </a:lnSpc>
              <a:spcBef>
                <a:spcPts val="0"/>
              </a:spcBef>
              <a:spcAft>
                <a:spcPts val="0"/>
              </a:spcAft>
              <a:buClr>
                <a:srgbClr val="F1F5F9"/>
              </a:buClr>
              <a:buSzPts val="2400"/>
              <a:buFont typeface="Calibri"/>
              <a:buNone/>
              <a:defRPr b="1" sz="2400">
                <a:solidFill>
                  <a:srgbClr val="F1F5F9"/>
                </a:solidFill>
              </a:defRPr>
            </a:lvl1pPr>
            <a:lvl2pPr lvl="1" algn="ctr">
              <a:lnSpc>
                <a:spcPct val="100000"/>
              </a:lnSpc>
              <a:spcBef>
                <a:spcPts val="0"/>
              </a:spcBef>
              <a:spcAft>
                <a:spcPts val="0"/>
              </a:spcAft>
              <a:buClr>
                <a:srgbClr val="07111F"/>
              </a:buClr>
              <a:buSzPts val="1400"/>
              <a:buNone/>
              <a:defRPr/>
            </a:lvl2pPr>
            <a:lvl3pPr lvl="2" algn="ctr">
              <a:lnSpc>
                <a:spcPct val="100000"/>
              </a:lnSpc>
              <a:spcBef>
                <a:spcPts val="0"/>
              </a:spcBef>
              <a:spcAft>
                <a:spcPts val="0"/>
              </a:spcAft>
              <a:buClr>
                <a:srgbClr val="07111F"/>
              </a:buClr>
              <a:buSzPts val="1400"/>
              <a:buNone/>
              <a:defRPr/>
            </a:lvl3pPr>
            <a:lvl4pPr lvl="3" algn="ctr">
              <a:lnSpc>
                <a:spcPct val="100000"/>
              </a:lnSpc>
              <a:spcBef>
                <a:spcPts val="0"/>
              </a:spcBef>
              <a:spcAft>
                <a:spcPts val="0"/>
              </a:spcAft>
              <a:buClr>
                <a:srgbClr val="07111F"/>
              </a:buClr>
              <a:buSzPts val="1400"/>
              <a:buNone/>
              <a:defRPr/>
            </a:lvl4pPr>
            <a:lvl5pPr lvl="4" algn="ctr">
              <a:lnSpc>
                <a:spcPct val="100000"/>
              </a:lnSpc>
              <a:spcBef>
                <a:spcPts val="0"/>
              </a:spcBef>
              <a:spcAft>
                <a:spcPts val="0"/>
              </a:spcAft>
              <a:buClr>
                <a:srgbClr val="07111F"/>
              </a:buClr>
              <a:buSzPts val="1400"/>
              <a:buNone/>
              <a:defRPr/>
            </a:lvl5pPr>
            <a:lvl6pPr lvl="5" algn="ctr">
              <a:lnSpc>
                <a:spcPct val="100000"/>
              </a:lnSpc>
              <a:spcBef>
                <a:spcPts val="0"/>
              </a:spcBef>
              <a:spcAft>
                <a:spcPts val="0"/>
              </a:spcAft>
              <a:buClr>
                <a:srgbClr val="07111F"/>
              </a:buClr>
              <a:buSzPts val="1400"/>
              <a:buNone/>
              <a:defRPr/>
            </a:lvl6pPr>
            <a:lvl7pPr lvl="6" algn="ctr">
              <a:lnSpc>
                <a:spcPct val="100000"/>
              </a:lnSpc>
              <a:spcBef>
                <a:spcPts val="0"/>
              </a:spcBef>
              <a:spcAft>
                <a:spcPts val="0"/>
              </a:spcAft>
              <a:buClr>
                <a:srgbClr val="07111F"/>
              </a:buClr>
              <a:buSzPts val="1400"/>
              <a:buNone/>
              <a:defRPr/>
            </a:lvl7pPr>
            <a:lvl8pPr lvl="7" algn="ctr">
              <a:lnSpc>
                <a:spcPct val="100000"/>
              </a:lnSpc>
              <a:spcBef>
                <a:spcPts val="0"/>
              </a:spcBef>
              <a:spcAft>
                <a:spcPts val="0"/>
              </a:spcAft>
              <a:buClr>
                <a:srgbClr val="07111F"/>
              </a:buClr>
              <a:buSzPts val="1400"/>
              <a:buNone/>
              <a:defRPr/>
            </a:lvl8pPr>
            <a:lvl9pPr lvl="8" algn="ctr">
              <a:lnSpc>
                <a:spcPct val="100000"/>
              </a:lnSpc>
              <a:spcBef>
                <a:spcPts val="0"/>
              </a:spcBef>
              <a:spcAft>
                <a:spcPts val="0"/>
              </a:spcAft>
              <a:buClr>
                <a:srgbClr val="07111F"/>
              </a:buClr>
              <a:buSzPts val="1400"/>
              <a:buNone/>
              <a:defRPr/>
            </a:lvl9pPr>
          </a:lstStyle>
          <a:p/>
        </p:txBody>
      </p:sp>
      <p:sp>
        <p:nvSpPr>
          <p:cNvPr id="90" name="Google Shape;90;p20"/>
          <p:cNvSpPr txBox="1"/>
          <p:nvPr>
            <p:ph idx="12" type="sldNum"/>
          </p:nvPr>
        </p:nvSpPr>
        <p:spPr>
          <a:xfrm>
            <a:off x="8172792" y="137159"/>
            <a:ext cx="193969" cy="186230"/>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NTINEL_CLOSE">
  <p:cSld name="SENTINEL_CLOSE">
    <p:bg>
      <p:bgPr>
        <a:blipFill>
          <a:blip r:embed="rId2">
            <a:alphaModFix/>
          </a:blip>
          <a:stretch>
            <a:fillRect/>
          </a:stretch>
        </a:blipFill>
      </p:bgPr>
    </p:bg>
    <p:spTree>
      <p:nvGrpSpPr>
        <p:cNvPr id="91" name="Shape 91"/>
        <p:cNvGrpSpPr/>
        <p:nvPr/>
      </p:nvGrpSpPr>
      <p:grpSpPr>
        <a:xfrm>
          <a:off x="0" y="0"/>
          <a:ext cx="0" cy="0"/>
          <a:chOff x="0" y="0"/>
          <a:chExt cx="0" cy="0"/>
        </a:xfrm>
      </p:grpSpPr>
      <p:sp>
        <p:nvSpPr>
          <p:cNvPr id="92" name="Google Shape;92;p21"/>
          <p:cNvSpPr/>
          <p:nvPr/>
        </p:nvSpPr>
        <p:spPr>
          <a:xfrm>
            <a:off x="411479" y="102870"/>
            <a:ext cx="822962" cy="315468"/>
          </a:xfrm>
          <a:prstGeom prst="rect">
            <a:avLst/>
          </a:prstGeom>
          <a:solidFill>
            <a:srgbClr val="F1F5F9"/>
          </a:solidFill>
          <a:ln cap="flat" cmpd="sng" w="12700">
            <a:solidFill>
              <a:srgbClr val="F1F5F9"/>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93" name="Google Shape;93;p21"/>
          <p:cNvPicPr preferRelativeResize="0"/>
          <p:nvPr/>
        </p:nvPicPr>
        <p:blipFill rotWithShape="1">
          <a:blip r:embed="rId3">
            <a:alphaModFix/>
          </a:blip>
          <a:srcRect b="0" l="0" r="0" t="0"/>
          <a:stretch/>
        </p:blipFill>
        <p:spPr>
          <a:xfrm>
            <a:off x="514350" y="150876"/>
            <a:ext cx="617221" cy="214655"/>
          </a:xfrm>
          <a:prstGeom prst="rect">
            <a:avLst/>
          </a:prstGeom>
          <a:noFill/>
          <a:ln>
            <a:noFill/>
          </a:ln>
        </p:spPr>
      </p:pic>
      <p:pic>
        <p:nvPicPr>
          <p:cNvPr descr="Image 1" id="94" name="Google Shape;94;p21"/>
          <p:cNvPicPr preferRelativeResize="0"/>
          <p:nvPr/>
        </p:nvPicPr>
        <p:blipFill rotWithShape="1">
          <a:blip r:embed="rId4">
            <a:alphaModFix/>
          </a:blip>
          <a:srcRect b="0" l="0" r="0" t="0"/>
          <a:stretch/>
        </p:blipFill>
        <p:spPr>
          <a:xfrm>
            <a:off x="8455914" y="116585"/>
            <a:ext cx="274321" cy="274321"/>
          </a:xfrm>
          <a:prstGeom prst="rect">
            <a:avLst/>
          </a:prstGeom>
          <a:noFill/>
          <a:ln>
            <a:noFill/>
          </a:ln>
        </p:spPr>
      </p:pic>
      <p:sp>
        <p:nvSpPr>
          <p:cNvPr id="95" name="Google Shape;95;p21"/>
          <p:cNvSpPr txBox="1"/>
          <p:nvPr>
            <p:ph idx="12" type="sldNum"/>
          </p:nvPr>
        </p:nvSpPr>
        <p:spPr>
          <a:xfrm>
            <a:off x="8172792" y="137159"/>
            <a:ext cx="193969" cy="186230"/>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96" name="Shape 96"/>
        <p:cNvGrpSpPr/>
        <p:nvPr/>
      </p:nvGrpSpPr>
      <p:grpSpPr>
        <a:xfrm>
          <a:off x="0" y="0"/>
          <a:ext cx="0" cy="0"/>
          <a:chOff x="0" y="0"/>
          <a:chExt cx="0" cy="0"/>
        </a:xfrm>
      </p:grpSpPr>
      <p:sp>
        <p:nvSpPr>
          <p:cNvPr id="97" name="Google Shape;97;p22"/>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algn="r">
              <a:lnSpc>
                <a:spcPct val="100000"/>
              </a:lnSpc>
              <a:spcBef>
                <a:spcPts val="0"/>
              </a:spcBef>
              <a:spcAft>
                <a:spcPts val="0"/>
              </a:spcAft>
              <a:buClr>
                <a:srgbClr val="94A3B8"/>
              </a:buClr>
              <a:buSzPts val="900"/>
              <a:buFont typeface="Calibri"/>
              <a:buNone/>
              <a:defRPr sz="900">
                <a:solidFill>
                  <a:srgbClr val="94A3B8"/>
                </a:solidFill>
              </a:defRPr>
            </a:lvl1pPr>
            <a:lvl2pPr indent="0" lvl="1" marL="0" algn="r">
              <a:lnSpc>
                <a:spcPct val="100000"/>
              </a:lnSpc>
              <a:spcBef>
                <a:spcPts val="0"/>
              </a:spcBef>
              <a:spcAft>
                <a:spcPts val="0"/>
              </a:spcAft>
              <a:buClr>
                <a:srgbClr val="94A3B8"/>
              </a:buClr>
              <a:buSzPts val="900"/>
              <a:buFont typeface="Calibri"/>
              <a:buNone/>
              <a:defRPr sz="900">
                <a:solidFill>
                  <a:srgbClr val="94A3B8"/>
                </a:solidFill>
              </a:defRPr>
            </a:lvl2pPr>
            <a:lvl3pPr indent="0" lvl="2" marL="0" algn="r">
              <a:lnSpc>
                <a:spcPct val="100000"/>
              </a:lnSpc>
              <a:spcBef>
                <a:spcPts val="0"/>
              </a:spcBef>
              <a:spcAft>
                <a:spcPts val="0"/>
              </a:spcAft>
              <a:buClr>
                <a:srgbClr val="94A3B8"/>
              </a:buClr>
              <a:buSzPts val="900"/>
              <a:buFont typeface="Calibri"/>
              <a:buNone/>
              <a:defRPr sz="900">
                <a:solidFill>
                  <a:srgbClr val="94A3B8"/>
                </a:solidFill>
              </a:defRPr>
            </a:lvl3pPr>
            <a:lvl4pPr indent="0" lvl="3" marL="0" algn="r">
              <a:lnSpc>
                <a:spcPct val="100000"/>
              </a:lnSpc>
              <a:spcBef>
                <a:spcPts val="0"/>
              </a:spcBef>
              <a:spcAft>
                <a:spcPts val="0"/>
              </a:spcAft>
              <a:buClr>
                <a:srgbClr val="94A3B8"/>
              </a:buClr>
              <a:buSzPts val="900"/>
              <a:buFont typeface="Calibri"/>
              <a:buNone/>
              <a:defRPr sz="900">
                <a:solidFill>
                  <a:srgbClr val="94A3B8"/>
                </a:solidFill>
              </a:defRPr>
            </a:lvl4pPr>
            <a:lvl5pPr indent="0" lvl="4" marL="0" algn="r">
              <a:lnSpc>
                <a:spcPct val="100000"/>
              </a:lnSpc>
              <a:spcBef>
                <a:spcPts val="0"/>
              </a:spcBef>
              <a:spcAft>
                <a:spcPts val="0"/>
              </a:spcAft>
              <a:buClr>
                <a:srgbClr val="94A3B8"/>
              </a:buClr>
              <a:buSzPts val="900"/>
              <a:buFont typeface="Calibri"/>
              <a:buNone/>
              <a:defRPr sz="900">
                <a:solidFill>
                  <a:srgbClr val="94A3B8"/>
                </a:solidFill>
              </a:defRPr>
            </a:lvl5pPr>
            <a:lvl6pPr indent="0" lvl="5" marL="0" algn="r">
              <a:lnSpc>
                <a:spcPct val="100000"/>
              </a:lnSpc>
              <a:spcBef>
                <a:spcPts val="0"/>
              </a:spcBef>
              <a:spcAft>
                <a:spcPts val="0"/>
              </a:spcAft>
              <a:buClr>
                <a:srgbClr val="94A3B8"/>
              </a:buClr>
              <a:buSzPts val="900"/>
              <a:buFont typeface="Calibri"/>
              <a:buNone/>
              <a:defRPr sz="900">
                <a:solidFill>
                  <a:srgbClr val="94A3B8"/>
                </a:solidFill>
              </a:defRPr>
            </a:lvl6pPr>
            <a:lvl7pPr indent="0" lvl="6" marL="0" algn="r">
              <a:lnSpc>
                <a:spcPct val="100000"/>
              </a:lnSpc>
              <a:spcBef>
                <a:spcPts val="0"/>
              </a:spcBef>
              <a:spcAft>
                <a:spcPts val="0"/>
              </a:spcAft>
              <a:buClr>
                <a:srgbClr val="94A3B8"/>
              </a:buClr>
              <a:buSzPts val="900"/>
              <a:buFont typeface="Calibri"/>
              <a:buNone/>
              <a:defRPr sz="900">
                <a:solidFill>
                  <a:srgbClr val="94A3B8"/>
                </a:solidFill>
              </a:defRPr>
            </a:lvl7pPr>
            <a:lvl8pPr indent="0" lvl="7" marL="0" algn="r">
              <a:lnSpc>
                <a:spcPct val="100000"/>
              </a:lnSpc>
              <a:spcBef>
                <a:spcPts val="0"/>
              </a:spcBef>
              <a:spcAft>
                <a:spcPts val="0"/>
              </a:spcAft>
              <a:buClr>
                <a:srgbClr val="94A3B8"/>
              </a:buClr>
              <a:buSzPts val="900"/>
              <a:buFont typeface="Calibri"/>
              <a:buNone/>
              <a:defRPr sz="900">
                <a:solidFill>
                  <a:srgbClr val="94A3B8"/>
                </a:solidFill>
              </a:defRPr>
            </a:lvl8pPr>
            <a:lvl9pPr indent="0" lvl="8" marL="0" algn="r">
              <a:lnSpc>
                <a:spcPct val="100000"/>
              </a:lnSpc>
              <a:spcBef>
                <a:spcPts val="0"/>
              </a:spcBef>
              <a:spcAft>
                <a:spcPts val="0"/>
              </a:spcAft>
              <a:buClr>
                <a:srgbClr val="94A3B8"/>
              </a:buClr>
              <a:buSzPts val="900"/>
              <a:buFont typeface="Calibri"/>
              <a:buNone/>
              <a:defRPr sz="900">
                <a:solidFill>
                  <a:srgbClr val="94A3B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69056"/>
            <a:ext cx="8229600" cy="1131095"/>
          </a:xfrm>
          <a:prstGeom prst="rect">
            <a:avLst/>
          </a:prstGeom>
          <a:noFill/>
          <a:ln>
            <a:noFill/>
          </a:ln>
        </p:spPr>
        <p:txBody>
          <a:bodyPr anchorCtr="0" anchor="ctr" bIns="34275" lIns="34275" spcFirstLastPara="1" rIns="34275" wrap="square" tIns="34275">
            <a:noAutofit/>
          </a:bodyPr>
          <a:lstStyle>
            <a:lvl1pPr lvl="0"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1pPr>
            <a:lvl2pPr lvl="1"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2pPr>
            <a:lvl3pPr lvl="2"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3pPr>
            <a:lvl4pPr lvl="3"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4pPr>
            <a:lvl5pPr lvl="4"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5pPr>
            <a:lvl6pPr lvl="5"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6pPr>
            <a:lvl7pPr lvl="6"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7pPr>
            <a:lvl8pPr lvl="7"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8pPr>
            <a:lvl9pPr lvl="8"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9pPr>
          </a:lstStyle>
          <a:p/>
        </p:txBody>
      </p:sp>
      <p:sp>
        <p:nvSpPr>
          <p:cNvPr id="52" name="Google Shape;52;p13"/>
          <p:cNvSpPr txBox="1"/>
          <p:nvPr>
            <p:ph idx="1" type="body"/>
          </p:nvPr>
        </p:nvSpPr>
        <p:spPr>
          <a:xfrm>
            <a:off x="457200" y="1200150"/>
            <a:ext cx="8229600" cy="3943350"/>
          </a:xfrm>
          <a:prstGeom prst="rect">
            <a:avLst/>
          </a:prstGeom>
          <a:noFill/>
          <a:ln>
            <a:noFill/>
          </a:ln>
        </p:spPr>
        <p:txBody>
          <a:bodyPr anchorCtr="0" anchor="t" bIns="34275" lIns="34275" spcFirstLastPara="1" rIns="34275" wrap="square" tIns="34275">
            <a:noAutofit/>
          </a:bodyPr>
          <a:lstStyle>
            <a:lvl1pPr indent="-381000" lvl="0" marL="4572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1pPr>
            <a:lvl2pPr indent="-381000" lvl="1" marL="9144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2pPr>
            <a:lvl3pPr indent="-381000" lvl="2" marL="13716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3pPr>
            <a:lvl4pPr indent="-381000" lvl="3" marL="18288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4pPr>
            <a:lvl5pPr indent="-381000" lvl="4" marL="22860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5pPr>
            <a:lvl6pPr indent="-381000" lvl="5" marL="27432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6pPr>
            <a:lvl7pPr indent="-381000" lvl="6" marL="32004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7pPr>
            <a:lvl8pPr indent="-381000" lvl="7" marL="36576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8pPr>
            <a:lvl9pPr indent="-381000" lvl="8" marL="41148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9pPr>
          </a:lstStyle>
          <a:p/>
        </p:txBody>
      </p:sp>
      <p:sp>
        <p:nvSpPr>
          <p:cNvPr id="53" name="Google Shape;53;p13"/>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1pPr>
            <a:lvl2pPr indent="0" lvl="1"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2pPr>
            <a:lvl3pPr indent="0" lvl="2"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3pPr>
            <a:lvl4pPr indent="0" lvl="3"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4pPr>
            <a:lvl5pPr indent="0" lvl="4"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5pPr>
            <a:lvl6pPr indent="0" lvl="5"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6pPr>
            <a:lvl7pPr indent="0" lvl="6"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7pPr>
            <a:lvl8pPr indent="0" lvl="7"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8pPr>
            <a:lvl9pPr indent="0" lvl="8"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1F5F9"/>
        </a:solidFill>
      </p:bgPr>
    </p:bg>
    <p:spTree>
      <p:nvGrpSpPr>
        <p:cNvPr id="74" name="Shape 74"/>
        <p:cNvGrpSpPr/>
        <p:nvPr/>
      </p:nvGrpSpPr>
      <p:grpSpPr>
        <a:xfrm>
          <a:off x="0" y="0"/>
          <a:ext cx="0" cy="0"/>
          <a:chOff x="0" y="0"/>
          <a:chExt cx="0" cy="0"/>
        </a:xfrm>
      </p:grpSpPr>
      <p:sp>
        <p:nvSpPr>
          <p:cNvPr id="75" name="Google Shape;75;p18"/>
          <p:cNvSpPr txBox="1"/>
          <p:nvPr>
            <p:ph type="title"/>
          </p:nvPr>
        </p:nvSpPr>
        <p:spPr>
          <a:xfrm>
            <a:off x="457200" y="69056"/>
            <a:ext cx="8229600" cy="1131095"/>
          </a:xfrm>
          <a:prstGeom prst="rect">
            <a:avLst/>
          </a:prstGeom>
          <a:noFill/>
          <a:ln>
            <a:noFill/>
          </a:ln>
        </p:spPr>
        <p:txBody>
          <a:bodyPr anchorCtr="0" anchor="ctr" bIns="34275" lIns="34275" spcFirstLastPara="1" rIns="34275" wrap="square" tIns="34275">
            <a:noAutofit/>
          </a:bodyPr>
          <a:lstStyle>
            <a:lvl1pPr lvl="0"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1pPr>
            <a:lvl2pPr lvl="1"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2pPr>
            <a:lvl3pPr lvl="2"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3pPr>
            <a:lvl4pPr lvl="3"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4pPr>
            <a:lvl5pPr lvl="4"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5pPr>
            <a:lvl6pPr lvl="5"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6pPr>
            <a:lvl7pPr lvl="6"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7pPr>
            <a:lvl8pPr lvl="7"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8pPr>
            <a:lvl9pPr lvl="8" marR="0" rtl="0" algn="ctr">
              <a:lnSpc>
                <a:spcPct val="100000"/>
              </a:lnSpc>
              <a:spcBef>
                <a:spcPts val="0"/>
              </a:spcBef>
              <a:spcAft>
                <a:spcPts val="0"/>
              </a:spcAft>
              <a:buClr>
                <a:srgbClr val="07111F"/>
              </a:buClr>
              <a:buSzPts val="3300"/>
              <a:buFont typeface="Calibri"/>
              <a:buNone/>
              <a:defRPr b="0" i="0" sz="3300" u="none" cap="none" strike="noStrike">
                <a:solidFill>
                  <a:srgbClr val="07111F"/>
                </a:solidFill>
                <a:latin typeface="Calibri"/>
                <a:ea typeface="Calibri"/>
                <a:cs typeface="Calibri"/>
                <a:sym typeface="Calibri"/>
              </a:defRPr>
            </a:lvl9pPr>
          </a:lstStyle>
          <a:p/>
        </p:txBody>
      </p:sp>
      <p:sp>
        <p:nvSpPr>
          <p:cNvPr id="76" name="Google Shape;76;p18"/>
          <p:cNvSpPr txBox="1"/>
          <p:nvPr>
            <p:ph idx="1" type="body"/>
          </p:nvPr>
        </p:nvSpPr>
        <p:spPr>
          <a:xfrm>
            <a:off x="457200" y="1200150"/>
            <a:ext cx="8229600" cy="3943350"/>
          </a:xfrm>
          <a:prstGeom prst="rect">
            <a:avLst/>
          </a:prstGeom>
          <a:noFill/>
          <a:ln>
            <a:noFill/>
          </a:ln>
        </p:spPr>
        <p:txBody>
          <a:bodyPr anchorCtr="0" anchor="t" bIns="34275" lIns="34275" spcFirstLastPara="1" rIns="34275" wrap="square" tIns="34275">
            <a:noAutofit/>
          </a:bodyPr>
          <a:lstStyle>
            <a:lvl1pPr indent="-381000" lvl="0" marL="4572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1pPr>
            <a:lvl2pPr indent="-381000" lvl="1" marL="9144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2pPr>
            <a:lvl3pPr indent="-381000" lvl="2" marL="13716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3pPr>
            <a:lvl4pPr indent="-381000" lvl="3" marL="18288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4pPr>
            <a:lvl5pPr indent="-381000" lvl="4" marL="22860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5pPr>
            <a:lvl6pPr indent="-381000" lvl="5" marL="27432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6pPr>
            <a:lvl7pPr indent="-381000" lvl="6" marL="32004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7pPr>
            <a:lvl8pPr indent="-381000" lvl="7" marL="36576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8pPr>
            <a:lvl9pPr indent="-381000" lvl="8" marL="4114800" marR="0" rtl="0" algn="l">
              <a:lnSpc>
                <a:spcPct val="100000"/>
              </a:lnSpc>
              <a:spcBef>
                <a:spcPts val="500"/>
              </a:spcBef>
              <a:spcAft>
                <a:spcPts val="0"/>
              </a:spcAft>
              <a:buClr>
                <a:srgbClr val="07111F"/>
              </a:buClr>
              <a:buSzPts val="2400"/>
              <a:buFont typeface="Arial"/>
              <a:buChar char="•"/>
              <a:defRPr b="0" i="0" sz="2400" u="none" cap="none" strike="noStrike">
                <a:solidFill>
                  <a:srgbClr val="07111F"/>
                </a:solidFill>
                <a:latin typeface="Calibri"/>
                <a:ea typeface="Calibri"/>
                <a:cs typeface="Calibri"/>
                <a:sym typeface="Calibri"/>
              </a:defRPr>
            </a:lvl9pPr>
          </a:lstStyle>
          <a:p/>
        </p:txBody>
      </p:sp>
      <p:sp>
        <p:nvSpPr>
          <p:cNvPr id="77" name="Google Shape;77;p18"/>
          <p:cNvSpPr txBox="1"/>
          <p:nvPr>
            <p:ph idx="12" type="sldNum"/>
          </p:nvPr>
        </p:nvSpPr>
        <p:spPr>
          <a:xfrm>
            <a:off x="4419600" y="4767263"/>
            <a:ext cx="2133600" cy="276225"/>
          </a:xfrm>
          <a:prstGeom prst="rect">
            <a:avLst/>
          </a:prstGeom>
          <a:noFill/>
          <a:ln>
            <a:noFill/>
          </a:ln>
        </p:spPr>
        <p:txBody>
          <a:bodyPr anchorCtr="0" anchor="t" bIns="34275" lIns="34275" spcFirstLastPara="1" rIns="34275" wrap="square" tIns="34275">
            <a:spAutoFit/>
          </a:bodyPr>
          <a:lstStyle>
            <a:lvl1pPr indent="0" lvl="0"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1pPr>
            <a:lvl2pPr indent="0" lvl="1"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2pPr>
            <a:lvl3pPr indent="0" lvl="2"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3pPr>
            <a:lvl4pPr indent="0" lvl="3"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4pPr>
            <a:lvl5pPr indent="0" lvl="4"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5pPr>
            <a:lvl6pPr indent="0" lvl="5"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6pPr>
            <a:lvl7pPr indent="0" lvl="6"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7pPr>
            <a:lvl8pPr indent="0" lvl="7"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8pPr>
            <a:lvl9pPr indent="0" lvl="8" marL="0" marR="0" rtl="0" algn="r">
              <a:lnSpc>
                <a:spcPct val="100000"/>
              </a:lnSpc>
              <a:spcBef>
                <a:spcPts val="0"/>
              </a:spcBef>
              <a:spcAft>
                <a:spcPts val="0"/>
              </a:spcAft>
              <a:buClr>
                <a:srgbClr val="94A3B8"/>
              </a:buClr>
              <a:buSzPts val="900"/>
              <a:buFont typeface="Calibri"/>
              <a:buNone/>
              <a:defRPr b="0" i="0" sz="900" u="none" cap="none" strike="noStrike">
                <a:solidFill>
                  <a:srgbClr val="94A3B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sz="11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7.png"/><Relationship Id="rId11" Type="http://schemas.openxmlformats.org/officeDocument/2006/relationships/image" Target="../media/image16.png"/><Relationship Id="rId10" Type="http://schemas.openxmlformats.org/officeDocument/2006/relationships/image" Target="../media/image9.png"/><Relationship Id="rId12" Type="http://schemas.openxmlformats.org/officeDocument/2006/relationships/image" Target="../media/image19.jpg"/><Relationship Id="rId9"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descr="Image 0" id="102" name="Google Shape;102;p23"/>
          <p:cNvPicPr preferRelativeResize="0"/>
          <p:nvPr/>
        </p:nvPicPr>
        <p:blipFill rotWithShape="1">
          <a:blip r:embed="rId3">
            <a:alphaModFix/>
          </a:blip>
          <a:srcRect b="0" l="0" r="0" t="0"/>
          <a:stretch/>
        </p:blipFill>
        <p:spPr>
          <a:xfrm>
            <a:off x="617220" y="1680209"/>
            <a:ext cx="1851660" cy="1851661"/>
          </a:xfrm>
          <a:prstGeom prst="rect">
            <a:avLst/>
          </a:prstGeom>
          <a:noFill/>
          <a:ln>
            <a:noFill/>
          </a:ln>
        </p:spPr>
      </p:pic>
      <p:sp>
        <p:nvSpPr>
          <p:cNvPr id="103" name="Google Shape;103;p23"/>
          <p:cNvSpPr txBox="1"/>
          <p:nvPr/>
        </p:nvSpPr>
        <p:spPr>
          <a:xfrm>
            <a:off x="3017519" y="1611109"/>
            <a:ext cx="5829300" cy="831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1F5F9"/>
              </a:buClr>
              <a:buSzPts val="5400"/>
              <a:buFont typeface="Calibri"/>
              <a:buNone/>
            </a:pPr>
            <a:r>
              <a:rPr b="1" i="0" lang="en" sz="5400" u="none" cap="none" strike="noStrike">
                <a:solidFill>
                  <a:srgbClr val="F1F5F9"/>
                </a:solidFill>
                <a:latin typeface="Calibri"/>
                <a:ea typeface="Calibri"/>
                <a:cs typeface="Calibri"/>
                <a:sym typeface="Calibri"/>
              </a:rPr>
              <a:t>SENTINEL</a:t>
            </a:r>
            <a:endParaRPr sz="1100"/>
          </a:p>
        </p:txBody>
      </p:sp>
      <p:sp>
        <p:nvSpPr>
          <p:cNvPr id="104" name="Google Shape;104;p23"/>
          <p:cNvSpPr txBox="1"/>
          <p:nvPr/>
        </p:nvSpPr>
        <p:spPr>
          <a:xfrm>
            <a:off x="3017519" y="2434590"/>
            <a:ext cx="58293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1"/>
              </a:buClr>
              <a:buSzPts val="1800"/>
              <a:buFont typeface="Calibri"/>
              <a:buNone/>
            </a:pPr>
            <a:r>
              <a:rPr b="0" i="0" lang="en" sz="1800" u="none" cap="none" strike="noStrike">
                <a:solidFill>
                  <a:schemeClr val="accent1"/>
                </a:solidFill>
                <a:latin typeface="Calibri"/>
                <a:ea typeface="Calibri"/>
                <a:cs typeface="Calibri"/>
                <a:sym typeface="Calibri"/>
              </a:rPr>
              <a:t>Real-Time Healthcare Data Reliability</a:t>
            </a:r>
            <a:endParaRPr sz="1100"/>
          </a:p>
        </p:txBody>
      </p:sp>
      <p:sp>
        <p:nvSpPr>
          <p:cNvPr id="105" name="Google Shape;105;p23"/>
          <p:cNvSpPr txBox="1"/>
          <p:nvPr/>
        </p:nvSpPr>
        <p:spPr>
          <a:xfrm>
            <a:off x="3017519" y="3086100"/>
            <a:ext cx="5760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1F5F9"/>
              </a:buClr>
              <a:buSzPts val="2000"/>
              <a:buFont typeface="Calibri"/>
              <a:buNone/>
            </a:pPr>
            <a:r>
              <a:rPr b="0" i="1" lang="en" sz="2000" u="none" cap="none" strike="noStrike">
                <a:solidFill>
                  <a:srgbClr val="F1F5F9"/>
                </a:solidFill>
                <a:latin typeface="Calibri"/>
                <a:ea typeface="Calibri"/>
                <a:cs typeface="Calibri"/>
                <a:sym typeface="Calibri"/>
              </a:rPr>
              <a:t>“The pipeline is </a:t>
            </a:r>
            <a:r>
              <a:rPr b="0" i="1" lang="en" sz="2000" u="none" cap="none" strike="noStrike">
                <a:solidFill>
                  <a:schemeClr val="accent3"/>
                </a:solidFill>
                <a:latin typeface="Calibri"/>
                <a:ea typeface="Calibri"/>
                <a:cs typeface="Calibri"/>
                <a:sym typeface="Calibri"/>
              </a:rPr>
              <a:t>green</a:t>
            </a:r>
            <a:r>
              <a:rPr b="0" i="1" lang="en" sz="2000" u="none" cap="none" strike="noStrike">
                <a:solidFill>
                  <a:srgbClr val="F1F5F9"/>
                </a:solidFill>
                <a:latin typeface="Calibri"/>
                <a:ea typeface="Calibri"/>
                <a:cs typeface="Calibri"/>
                <a:sym typeface="Calibri"/>
              </a:rPr>
              <a:t>. But is the data </a:t>
            </a:r>
            <a:r>
              <a:rPr b="0" i="1" lang="en" sz="2000" u="none" cap="none" strike="noStrike">
                <a:solidFill>
                  <a:schemeClr val="accent1"/>
                </a:solidFill>
                <a:latin typeface="Calibri"/>
                <a:ea typeface="Calibri"/>
                <a:cs typeface="Calibri"/>
                <a:sym typeface="Calibri"/>
              </a:rPr>
              <a:t>healthy</a:t>
            </a:r>
            <a:r>
              <a:rPr b="0" i="1" lang="en" sz="2000" u="none" cap="none" strike="noStrike">
                <a:solidFill>
                  <a:srgbClr val="F1F5F9"/>
                </a:solidFill>
                <a:latin typeface="Calibri"/>
                <a:ea typeface="Calibri"/>
                <a:cs typeface="Calibri"/>
                <a:sym typeface="Calibri"/>
              </a:rPr>
              <a:t>?”</a:t>
            </a:r>
            <a:endParaRPr sz="1100"/>
          </a:p>
        </p:txBody>
      </p:sp>
      <p:sp>
        <p:nvSpPr>
          <p:cNvPr id="106" name="Google Shape;106;p23"/>
          <p:cNvSpPr txBox="1"/>
          <p:nvPr/>
        </p:nvSpPr>
        <p:spPr>
          <a:xfrm>
            <a:off x="3017519" y="4457699"/>
            <a:ext cx="5486401" cy="11765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Capstone Proposal  ·  Data Engineering</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000"/>
                                        <p:tgtEl>
                                          <p:spTgt spid="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0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type="title"/>
          </p:nvPr>
        </p:nvSpPr>
        <p:spPr>
          <a:xfrm>
            <a:off x="411480" y="548639"/>
            <a:ext cx="8318754" cy="582931"/>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Clr>
                <a:srgbClr val="F1F5F9"/>
              </a:buClr>
              <a:buSzPts val="2400"/>
              <a:buFont typeface="Calibri"/>
              <a:buNone/>
            </a:pPr>
            <a:r>
              <a:rPr b="1" lang="en" sz="2400">
                <a:solidFill>
                  <a:srgbClr val="F1F5F9"/>
                </a:solidFill>
              </a:rPr>
              <a:t>A Green Pipeline Can Still Carry Bad Data</a:t>
            </a:r>
            <a:endParaRPr/>
          </a:p>
        </p:txBody>
      </p:sp>
      <p:sp>
        <p:nvSpPr>
          <p:cNvPr id="112" name="Google Shape;112;p24"/>
          <p:cNvSpPr txBox="1"/>
          <p:nvPr>
            <p:ph idx="4294967295" type="sldNum"/>
          </p:nvPr>
        </p:nvSpPr>
        <p:spPr>
          <a:xfrm>
            <a:off x="8230724" y="137159"/>
            <a:ext cx="136037" cy="186230"/>
          </a:xfrm>
          <a:prstGeom prst="rect">
            <a:avLst/>
          </a:prstGeom>
          <a:noFill/>
          <a:ln>
            <a:noFill/>
          </a:ln>
        </p:spPr>
        <p:txBody>
          <a:bodyPr anchorCtr="0" anchor="t" bIns="34275" lIns="34275" spcFirstLastPara="1" rIns="34275" wrap="square" tIns="34275">
            <a:spAutoFit/>
          </a:bodyPr>
          <a:lstStyle/>
          <a:p>
            <a:pPr indent="0" lvl="0" marL="0" rtl="0" algn="r">
              <a:lnSpc>
                <a:spcPct val="100000"/>
              </a:lnSpc>
              <a:spcBef>
                <a:spcPts val="0"/>
              </a:spcBef>
              <a:spcAft>
                <a:spcPts val="0"/>
              </a:spcAft>
              <a:buClr>
                <a:srgbClr val="94A3B8"/>
              </a:buClr>
              <a:buSzPts val="900"/>
              <a:buFont typeface="Calibri"/>
              <a:buNone/>
            </a:pPr>
            <a:fld id="{00000000-1234-1234-1234-123412341234}" type="slidenum">
              <a:rPr lang="en" sz="900">
                <a:solidFill>
                  <a:srgbClr val="94A3B8"/>
                </a:solidFill>
              </a:rPr>
              <a:t>‹#›</a:t>
            </a:fld>
            <a:endParaRPr/>
          </a:p>
        </p:txBody>
      </p:sp>
      <p:sp>
        <p:nvSpPr>
          <p:cNvPr id="113" name="Google Shape;113;p24"/>
          <p:cNvSpPr/>
          <p:nvPr/>
        </p:nvSpPr>
        <p:spPr>
          <a:xfrm>
            <a:off x="411480" y="1508760"/>
            <a:ext cx="1714500" cy="1028700"/>
          </a:xfrm>
          <a:prstGeom prst="roundRect">
            <a:avLst>
              <a:gd fmla="val 8000" name="adj"/>
            </a:avLst>
          </a:prstGeom>
          <a:solidFill>
            <a:srgbClr val="101D2E"/>
          </a:solidFill>
          <a:ln cap="flat" cmpd="sng" w="25400">
            <a:solidFill>
              <a:schemeClr val="accent4"/>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chemeClr val="accent4"/>
              </a:buClr>
              <a:buSzPts val="1300"/>
              <a:buFont typeface="Calibri"/>
              <a:buNone/>
            </a:pPr>
            <a:r>
              <a:rPr b="1" i="0" lang="en" sz="1300" u="none" cap="none" strike="noStrike">
                <a:solidFill>
                  <a:schemeClr val="accent4"/>
                </a:solidFill>
                <a:latin typeface="Calibri"/>
                <a:ea typeface="Calibri"/>
                <a:cs typeface="Calibri"/>
                <a:sym typeface="Calibri"/>
              </a:rPr>
              <a:t>⚠  BAD DATA</a:t>
            </a:r>
            <a:endParaRPr sz="1100"/>
          </a:p>
        </p:txBody>
      </p:sp>
      <p:sp>
        <p:nvSpPr>
          <p:cNvPr id="114" name="Google Shape;114;p24"/>
          <p:cNvSpPr/>
          <p:nvPr/>
        </p:nvSpPr>
        <p:spPr>
          <a:xfrm>
            <a:off x="411480" y="2674620"/>
            <a:ext cx="1714500" cy="274320"/>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NUMBER → STRING</a:t>
            </a:r>
            <a:endParaRPr sz="1100"/>
          </a:p>
        </p:txBody>
      </p:sp>
      <p:sp>
        <p:nvSpPr>
          <p:cNvPr id="115" name="Google Shape;115;p24"/>
          <p:cNvSpPr/>
          <p:nvPr/>
        </p:nvSpPr>
        <p:spPr>
          <a:xfrm>
            <a:off x="411480" y="3017520"/>
            <a:ext cx="1714500" cy="274320"/>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1% → 40% null</a:t>
            </a:r>
            <a:endParaRPr sz="1100"/>
          </a:p>
        </p:txBody>
      </p:sp>
      <p:sp>
        <p:nvSpPr>
          <p:cNvPr id="116" name="Google Shape;116;p24"/>
          <p:cNvSpPr/>
          <p:nvPr/>
        </p:nvSpPr>
        <p:spPr>
          <a:xfrm>
            <a:off x="411480" y="3360420"/>
            <a:ext cx="1714500" cy="274320"/>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2,000 → 300/min</a:t>
            </a:r>
            <a:endParaRPr sz="1100"/>
          </a:p>
        </p:txBody>
      </p:sp>
      <p:cxnSp>
        <p:nvCxnSpPr>
          <p:cNvPr id="117" name="Google Shape;117;p24"/>
          <p:cNvCxnSpPr/>
          <p:nvPr/>
        </p:nvCxnSpPr>
        <p:spPr>
          <a:xfrm>
            <a:off x="2160270" y="2023110"/>
            <a:ext cx="240030" cy="0"/>
          </a:xfrm>
          <a:prstGeom prst="straightConnector1">
            <a:avLst/>
          </a:prstGeom>
          <a:noFill/>
          <a:ln cap="flat" cmpd="sng" w="22225">
            <a:solidFill>
              <a:schemeClr val="accent1"/>
            </a:solidFill>
            <a:prstDash val="solid"/>
            <a:round/>
            <a:headEnd len="sm" w="sm" type="none"/>
            <a:tailEnd len="med" w="med" type="triangle"/>
          </a:ln>
        </p:spPr>
      </p:cxnSp>
      <p:sp>
        <p:nvSpPr>
          <p:cNvPr id="118" name="Google Shape;118;p24"/>
          <p:cNvSpPr/>
          <p:nvPr/>
        </p:nvSpPr>
        <p:spPr>
          <a:xfrm>
            <a:off x="2434590" y="1508760"/>
            <a:ext cx="2400300" cy="1028700"/>
          </a:xfrm>
          <a:prstGeom prst="roundRect">
            <a:avLst>
              <a:gd fmla="val 8000" name="adj"/>
            </a:avLst>
          </a:prstGeom>
          <a:solidFill>
            <a:srgbClr val="101D2E"/>
          </a:solidFill>
          <a:ln cap="flat" cmpd="sng" w="19050">
            <a:solidFill>
              <a:schemeClr val="accent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119" name="Google Shape;119;p24"/>
          <p:cNvSpPr txBox="1"/>
          <p:nvPr/>
        </p:nvSpPr>
        <p:spPr>
          <a:xfrm>
            <a:off x="2640330" y="1597914"/>
            <a:ext cx="2057400" cy="2418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3"/>
              </a:buClr>
              <a:buSzPts val="1100"/>
              <a:buFont typeface="Calibri"/>
              <a:buNone/>
            </a:pPr>
            <a:r>
              <a:rPr b="1" i="0" lang="en" sz="1100" u="none" cap="none" strike="noStrike">
                <a:solidFill>
                  <a:schemeClr val="accent3"/>
                </a:solidFill>
                <a:latin typeface="Calibri"/>
                <a:ea typeface="Calibri"/>
                <a:cs typeface="Calibri"/>
                <a:sym typeface="Calibri"/>
              </a:rPr>
              <a:t>●  </a:t>
            </a:r>
            <a:r>
              <a:rPr b="1" i="0" lang="en" sz="1300" u="none" cap="none" strike="noStrike">
                <a:solidFill>
                  <a:srgbClr val="F1F5F9"/>
                </a:solidFill>
                <a:latin typeface="Calibri"/>
                <a:ea typeface="Calibri"/>
                <a:cs typeface="Calibri"/>
                <a:sym typeface="Calibri"/>
              </a:rPr>
              <a:t>Kafka</a:t>
            </a:r>
            <a:endParaRPr sz="1100"/>
          </a:p>
        </p:txBody>
      </p:sp>
      <p:sp>
        <p:nvSpPr>
          <p:cNvPr id="120" name="Google Shape;120;p24"/>
          <p:cNvSpPr txBox="1"/>
          <p:nvPr/>
        </p:nvSpPr>
        <p:spPr>
          <a:xfrm>
            <a:off x="2640330" y="1872234"/>
            <a:ext cx="2057400" cy="2418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3"/>
              </a:buClr>
              <a:buSzPts val="1100"/>
              <a:buFont typeface="Calibri"/>
              <a:buNone/>
            </a:pPr>
            <a:r>
              <a:rPr b="1" i="0" lang="en" sz="1100" u="none" cap="none" strike="noStrike">
                <a:solidFill>
                  <a:schemeClr val="accent3"/>
                </a:solidFill>
                <a:latin typeface="Calibri"/>
                <a:ea typeface="Calibri"/>
                <a:cs typeface="Calibri"/>
                <a:sym typeface="Calibri"/>
              </a:rPr>
              <a:t>●  </a:t>
            </a:r>
            <a:r>
              <a:rPr b="1" i="0" lang="en" sz="1300" u="none" cap="none" strike="noStrike">
                <a:solidFill>
                  <a:srgbClr val="F1F5F9"/>
                </a:solidFill>
                <a:latin typeface="Calibri"/>
                <a:ea typeface="Calibri"/>
                <a:cs typeface="Calibri"/>
                <a:sym typeface="Calibri"/>
              </a:rPr>
              <a:t>Pipeline</a:t>
            </a:r>
            <a:endParaRPr sz="1100"/>
          </a:p>
        </p:txBody>
      </p:sp>
      <p:sp>
        <p:nvSpPr>
          <p:cNvPr id="121" name="Google Shape;121;p24"/>
          <p:cNvSpPr txBox="1"/>
          <p:nvPr/>
        </p:nvSpPr>
        <p:spPr>
          <a:xfrm>
            <a:off x="2640330" y="2146554"/>
            <a:ext cx="2057400" cy="2418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3"/>
              </a:buClr>
              <a:buSzPts val="1100"/>
              <a:buFont typeface="Calibri"/>
              <a:buNone/>
            </a:pPr>
            <a:r>
              <a:rPr b="1" i="0" lang="en" sz="1100" u="none" cap="none" strike="noStrike">
                <a:solidFill>
                  <a:schemeClr val="accent3"/>
                </a:solidFill>
                <a:latin typeface="Calibri"/>
                <a:ea typeface="Calibri"/>
                <a:cs typeface="Calibri"/>
                <a:sym typeface="Calibri"/>
              </a:rPr>
              <a:t>●  </a:t>
            </a:r>
            <a:r>
              <a:rPr b="1" i="0" lang="en" sz="1300" u="none" cap="none" strike="noStrike">
                <a:solidFill>
                  <a:srgbClr val="F1F5F9"/>
                </a:solidFill>
                <a:latin typeface="Calibri"/>
                <a:ea typeface="Calibri"/>
                <a:cs typeface="Calibri"/>
                <a:sym typeface="Calibri"/>
              </a:rPr>
              <a:t>Database</a:t>
            </a:r>
            <a:endParaRPr sz="1100"/>
          </a:p>
        </p:txBody>
      </p:sp>
      <p:cxnSp>
        <p:nvCxnSpPr>
          <p:cNvPr id="122" name="Google Shape;122;p24"/>
          <p:cNvCxnSpPr/>
          <p:nvPr/>
        </p:nvCxnSpPr>
        <p:spPr>
          <a:xfrm>
            <a:off x="4869180" y="2023110"/>
            <a:ext cx="240030" cy="0"/>
          </a:xfrm>
          <a:prstGeom prst="straightConnector1">
            <a:avLst/>
          </a:prstGeom>
          <a:noFill/>
          <a:ln cap="flat" cmpd="sng" w="22225">
            <a:solidFill>
              <a:schemeClr val="accent1"/>
            </a:solidFill>
            <a:prstDash val="solid"/>
            <a:round/>
            <a:headEnd len="sm" w="sm" type="none"/>
            <a:tailEnd len="med" w="med" type="triangle"/>
          </a:ln>
        </p:spPr>
      </p:cxnSp>
      <p:sp>
        <p:nvSpPr>
          <p:cNvPr id="123" name="Google Shape;123;p24"/>
          <p:cNvSpPr/>
          <p:nvPr/>
        </p:nvSpPr>
        <p:spPr>
          <a:xfrm>
            <a:off x="5143500" y="1508760"/>
            <a:ext cx="1714500" cy="1028700"/>
          </a:xfrm>
          <a:prstGeom prst="roundRect">
            <a:avLst>
              <a:gd fmla="val 8000" name="adj"/>
            </a:avLst>
          </a:prstGeom>
          <a:solidFill>
            <a:srgbClr val="101D2E"/>
          </a:solidFill>
          <a:ln cap="flat" cmpd="sng" w="25400">
            <a:solidFill>
              <a:schemeClr val="accent5"/>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chemeClr val="accent5"/>
              </a:buClr>
              <a:buSzPts val="1100"/>
              <a:buFont typeface="Calibri"/>
              <a:buNone/>
            </a:pPr>
            <a:r>
              <a:rPr b="1" i="0" lang="en" sz="1100" u="none" cap="none" strike="noStrike">
                <a:solidFill>
                  <a:schemeClr val="accent5"/>
                </a:solidFill>
                <a:latin typeface="Calibri"/>
                <a:ea typeface="Calibri"/>
                <a:cs typeface="Calibri"/>
                <a:sym typeface="Calibri"/>
              </a:rPr>
              <a:t>UNRELIABLE</a:t>
            </a:r>
            <a:endParaRPr sz="1100"/>
          </a:p>
          <a:p>
            <a:pPr indent="0" lvl="0" marL="0" marR="0" rtl="0" algn="ctr">
              <a:lnSpc>
                <a:spcPct val="100000"/>
              </a:lnSpc>
              <a:spcBef>
                <a:spcPts val="0"/>
              </a:spcBef>
              <a:spcAft>
                <a:spcPts val="0"/>
              </a:spcAft>
              <a:buClr>
                <a:schemeClr val="accent5"/>
              </a:buClr>
              <a:buSzPts val="1100"/>
              <a:buFont typeface="Calibri"/>
              <a:buNone/>
            </a:pPr>
            <a:r>
              <a:rPr b="1" i="0" lang="en" sz="1100" u="none" cap="none" strike="noStrike">
                <a:solidFill>
                  <a:schemeClr val="accent5"/>
                </a:solidFill>
                <a:latin typeface="Calibri"/>
                <a:ea typeface="Calibri"/>
                <a:cs typeface="Calibri"/>
                <a:sym typeface="Calibri"/>
              </a:rPr>
              <a:t>DATA</a:t>
            </a:r>
            <a:endParaRPr sz="1100"/>
          </a:p>
        </p:txBody>
      </p:sp>
      <p:cxnSp>
        <p:nvCxnSpPr>
          <p:cNvPr id="124" name="Google Shape;124;p24"/>
          <p:cNvCxnSpPr/>
          <p:nvPr/>
        </p:nvCxnSpPr>
        <p:spPr>
          <a:xfrm>
            <a:off x="6892290" y="2023110"/>
            <a:ext cx="205740" cy="0"/>
          </a:xfrm>
          <a:prstGeom prst="straightConnector1">
            <a:avLst/>
          </a:prstGeom>
          <a:noFill/>
          <a:ln cap="flat" cmpd="sng" w="22225">
            <a:solidFill>
              <a:schemeClr val="accent1"/>
            </a:solidFill>
            <a:prstDash val="solid"/>
            <a:round/>
            <a:headEnd len="sm" w="sm" type="none"/>
            <a:tailEnd len="med" w="med" type="triangle"/>
          </a:ln>
        </p:spPr>
      </p:cxnSp>
      <p:sp>
        <p:nvSpPr>
          <p:cNvPr id="125" name="Google Shape;125;p24"/>
          <p:cNvSpPr/>
          <p:nvPr/>
        </p:nvSpPr>
        <p:spPr>
          <a:xfrm>
            <a:off x="7132320" y="1508760"/>
            <a:ext cx="1597914" cy="233172"/>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0" i="0" lang="en" sz="1000" u="none" cap="none" strike="noStrike">
                <a:solidFill>
                  <a:srgbClr val="F1F5F9"/>
                </a:solidFill>
                <a:latin typeface="Calibri"/>
                <a:ea typeface="Calibri"/>
                <a:cs typeface="Calibri"/>
                <a:sym typeface="Calibri"/>
              </a:rPr>
              <a:t>Analytics</a:t>
            </a:r>
            <a:endParaRPr sz="1100"/>
          </a:p>
        </p:txBody>
      </p:sp>
      <p:sp>
        <p:nvSpPr>
          <p:cNvPr id="126" name="Google Shape;126;p24"/>
          <p:cNvSpPr/>
          <p:nvPr/>
        </p:nvSpPr>
        <p:spPr>
          <a:xfrm>
            <a:off x="7132320" y="1783080"/>
            <a:ext cx="1597914" cy="233172"/>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0" i="0" lang="en" sz="1000" u="none" cap="none" strike="noStrike">
                <a:solidFill>
                  <a:srgbClr val="F1F5F9"/>
                </a:solidFill>
                <a:latin typeface="Calibri"/>
                <a:ea typeface="Calibri"/>
                <a:cs typeface="Calibri"/>
                <a:sym typeface="Calibri"/>
              </a:rPr>
              <a:t>Data Science</a:t>
            </a:r>
            <a:endParaRPr sz="1100"/>
          </a:p>
        </p:txBody>
      </p:sp>
      <p:sp>
        <p:nvSpPr>
          <p:cNvPr id="127" name="Google Shape;127;p24"/>
          <p:cNvSpPr/>
          <p:nvPr/>
        </p:nvSpPr>
        <p:spPr>
          <a:xfrm>
            <a:off x="7132320" y="2057400"/>
            <a:ext cx="1597914" cy="233172"/>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0" i="0" lang="en" sz="1000" u="none" cap="none" strike="noStrike">
                <a:solidFill>
                  <a:srgbClr val="F1F5F9"/>
                </a:solidFill>
                <a:latin typeface="Calibri"/>
                <a:ea typeface="Calibri"/>
                <a:cs typeface="Calibri"/>
                <a:sym typeface="Calibri"/>
              </a:rPr>
              <a:t>BI</a:t>
            </a:r>
            <a:endParaRPr sz="1100"/>
          </a:p>
        </p:txBody>
      </p:sp>
      <p:sp>
        <p:nvSpPr>
          <p:cNvPr id="128" name="Google Shape;128;p24"/>
          <p:cNvSpPr/>
          <p:nvPr/>
        </p:nvSpPr>
        <p:spPr>
          <a:xfrm>
            <a:off x="7132320" y="2331720"/>
            <a:ext cx="1597914" cy="233172"/>
          </a:xfrm>
          <a:prstGeom prst="roundRect">
            <a:avLst>
              <a:gd fmla="val 20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000"/>
              <a:buFont typeface="Calibri"/>
              <a:buNone/>
            </a:pPr>
            <a:r>
              <a:rPr b="0" i="0" lang="en" sz="1000" u="none" cap="none" strike="noStrike">
                <a:solidFill>
                  <a:srgbClr val="F1F5F9"/>
                </a:solidFill>
                <a:latin typeface="Calibri"/>
                <a:ea typeface="Calibri"/>
                <a:cs typeface="Calibri"/>
                <a:sym typeface="Calibri"/>
              </a:rPr>
              <a:t>Data Products</a:t>
            </a:r>
            <a:endParaRPr sz="1100"/>
          </a:p>
        </p:txBody>
      </p:sp>
      <p:sp>
        <p:nvSpPr>
          <p:cNvPr id="129" name="Google Shape;129;p24"/>
          <p:cNvSpPr txBox="1"/>
          <p:nvPr/>
        </p:nvSpPr>
        <p:spPr>
          <a:xfrm>
            <a:off x="5939915" y="2792173"/>
            <a:ext cx="2110500" cy="2724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1"/>
              </a:buClr>
              <a:buSzPts val="1500"/>
              <a:buFont typeface="Calibri"/>
              <a:buNone/>
            </a:pPr>
            <a:r>
              <a:rPr b="1" i="0" lang="en" sz="1500" u="none" cap="none" strike="noStrike">
                <a:solidFill>
                  <a:schemeClr val="accent5"/>
                </a:solidFill>
                <a:latin typeface="Calibri"/>
                <a:ea typeface="Calibri"/>
                <a:cs typeface="Calibri"/>
                <a:sym typeface="Calibri"/>
              </a:rPr>
              <a:t>Garbage In, Garbage Out.</a:t>
            </a:r>
            <a:endParaRPr sz="1100">
              <a:solidFill>
                <a:schemeClr val="accent5"/>
              </a:solidFill>
            </a:endParaRPr>
          </a:p>
        </p:txBody>
      </p:sp>
      <p:sp>
        <p:nvSpPr>
          <p:cNvPr id="130" name="Google Shape;130;p24"/>
          <p:cNvSpPr/>
          <p:nvPr/>
        </p:nvSpPr>
        <p:spPr>
          <a:xfrm>
            <a:off x="411480" y="4114800"/>
            <a:ext cx="8318754" cy="445770"/>
          </a:xfrm>
          <a:prstGeom prst="roundRect">
            <a:avLst>
              <a:gd fmla="val 8000" name="adj"/>
            </a:avLst>
          </a:prstGeom>
          <a:solidFill>
            <a:srgbClr val="101D2E"/>
          </a:solidFill>
          <a:ln cap="flat" cmpd="sng" w="15875">
            <a:solidFill>
              <a:schemeClr val="accent6"/>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chemeClr val="accent2"/>
              </a:buClr>
              <a:buSzPts val="900"/>
              <a:buFont typeface="Calibri"/>
              <a:buNone/>
            </a:pPr>
            <a:r>
              <a:rPr b="1" i="0" lang="en" sz="900" u="none" cap="none" strike="noStrike">
                <a:solidFill>
                  <a:schemeClr val="accent2"/>
                </a:solidFill>
                <a:latin typeface="Calibri"/>
                <a:ea typeface="Calibri"/>
                <a:cs typeface="Calibri"/>
                <a:sym typeface="Calibri"/>
              </a:rPr>
              <a:t>INFRASTRUCTURE   </a:t>
            </a:r>
            <a:r>
              <a:rPr b="1" i="0" lang="en" sz="1500" u="none" cap="none" strike="noStrike">
                <a:solidFill>
                  <a:srgbClr val="F1F5F9"/>
                </a:solidFill>
                <a:latin typeface="Calibri"/>
                <a:ea typeface="Calibri"/>
                <a:cs typeface="Calibri"/>
                <a:sym typeface="Calibri"/>
              </a:rPr>
              <a:t>Is it running?</a:t>
            </a:r>
            <a:r>
              <a:rPr b="0" i="0" lang="en" sz="1500" u="none" cap="none" strike="noStrike">
                <a:solidFill>
                  <a:srgbClr val="94A3B8"/>
                </a:solidFill>
                <a:latin typeface="Calibri"/>
                <a:ea typeface="Calibri"/>
                <a:cs typeface="Calibri"/>
                <a:sym typeface="Calibri"/>
              </a:rPr>
              <a:t>        ·        </a:t>
            </a:r>
            <a:r>
              <a:rPr b="1" i="0" lang="en" sz="900" u="none" cap="none" strike="noStrike">
                <a:solidFill>
                  <a:schemeClr val="accent1"/>
                </a:solidFill>
                <a:latin typeface="Calibri"/>
                <a:ea typeface="Calibri"/>
                <a:cs typeface="Calibri"/>
                <a:sym typeface="Calibri"/>
              </a:rPr>
              <a:t>DATA HEALTH   </a:t>
            </a:r>
            <a:r>
              <a:rPr b="1" i="0" lang="en" sz="1500" u="none" cap="none" strike="noStrike">
                <a:solidFill>
                  <a:srgbClr val="F1F5F9"/>
                </a:solidFill>
                <a:latin typeface="Calibri"/>
                <a:ea typeface="Calibri"/>
                <a:cs typeface="Calibri"/>
                <a:sym typeface="Calibri"/>
              </a:rPr>
              <a:t>Can we trust it?</a:t>
            </a:r>
            <a:endParaRPr sz="1100"/>
          </a:p>
        </p:txBody>
      </p:sp>
      <p:pic>
        <p:nvPicPr>
          <p:cNvPr id="131" name="Google Shape;131;p24" title="Untitled_presentation-2-removebg-preview.png"/>
          <p:cNvPicPr preferRelativeResize="0"/>
          <p:nvPr/>
        </p:nvPicPr>
        <p:blipFill rotWithShape="1">
          <a:blip r:embed="rId3">
            <a:alphaModFix/>
          </a:blip>
          <a:srcRect b="21674" l="5848" r="1327" t="25641"/>
          <a:stretch/>
        </p:blipFill>
        <p:spPr>
          <a:xfrm>
            <a:off x="5385600" y="3064575"/>
            <a:ext cx="3219149" cy="1028700"/>
          </a:xfrm>
          <a:prstGeom prst="rect">
            <a:avLst/>
          </a:prstGeom>
          <a:noFill/>
          <a:ln>
            <a:noFill/>
          </a:ln>
          <a:effectLst>
            <a:outerShdw blurRad="200025" rotWithShape="0" algn="bl" dir="14340000" dist="19050">
              <a:srgbClr val="F1F5F9">
                <a:alpha val="99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100"/>
                                        <p:tgtEl>
                                          <p:spTgt spid="11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200"/>
                                        <p:tgtEl>
                                          <p:spTgt spid="11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200"/>
                                        <p:tgtEl>
                                          <p:spTgt spid="11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200"/>
                                        <p:tgtEl>
                                          <p:spTgt spid="12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200"/>
                                        <p:tgtEl>
                                          <p:spTgt spid="1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100"/>
                                        <p:tgtEl>
                                          <p:spTgt spid="12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200"/>
                                        <p:tgtEl>
                                          <p:spTgt spid="12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100"/>
                                        <p:tgtEl>
                                          <p:spTgt spid="124"/>
                                        </p:tgtEl>
                                        <p:attrNameLst>
                                          <p:attrName>ppt_x</p:attrName>
                                        </p:attrNameLst>
                                      </p:cBhvr>
                                      <p:tavLst>
                                        <p:tav fmla="" tm="0">
                                          <p:val>
                                            <p:strVal val="#ppt_x-1"/>
                                          </p:val>
                                        </p:tav>
                                        <p:tav fmla="" tm="100000">
                                          <p:val>
                                            <p:strVal val="#ppt_x"/>
                                          </p:val>
                                        </p:tav>
                                      </p:tavLst>
                                    </p:anim>
                                  </p:childTnLst>
                                </p:cTn>
                              </p:par>
                            </p:childTnLst>
                          </p:cTn>
                        </p:par>
                        <p:par>
                          <p:cTn fill="hold">
                            <p:stCondLst>
                              <p:cond delay="100"/>
                            </p:stCondLst>
                            <p:childTnLst>
                              <p:par>
                                <p:cTn fill="hold" nodeType="after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par>
                          <p:cTn fill="hold">
                            <p:stCondLst>
                              <p:cond delay="100"/>
                            </p:stCondLst>
                            <p:childTnLst>
                              <p:par>
                                <p:cTn fill="hold" nodeType="after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par>
                          <p:cTn fill="hold">
                            <p:stCondLst>
                              <p:cond delay="100"/>
                            </p:stCondLst>
                            <p:childTnLst>
                              <p:par>
                                <p:cTn fill="hold" nodeType="after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par>
                          <p:cTn fill="hold">
                            <p:stCondLst>
                              <p:cond delay="100"/>
                            </p:stCondLst>
                            <p:childTnLst>
                              <p:par>
                                <p:cTn fill="hold" nodeType="after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300"/>
                                        <p:tgtEl>
                                          <p:spTgt spid="12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300"/>
                                        <p:tgtEl>
                                          <p:spTgt spid="13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411480" y="548639"/>
            <a:ext cx="8318754" cy="582931"/>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Clr>
                <a:srgbClr val="F1F5F9"/>
              </a:buClr>
              <a:buSzPts val="2400"/>
              <a:buFont typeface="Calibri"/>
              <a:buNone/>
            </a:pPr>
            <a:r>
              <a:rPr b="1" lang="en" sz="2400">
                <a:solidFill>
                  <a:srgbClr val="F1F5F9"/>
                </a:solidFill>
              </a:rPr>
              <a:t>Sentinel Watches the Data, Not Just the Pipeline</a:t>
            </a:r>
            <a:endParaRPr/>
          </a:p>
        </p:txBody>
      </p:sp>
      <p:sp>
        <p:nvSpPr>
          <p:cNvPr id="137" name="Google Shape;137;p25"/>
          <p:cNvSpPr txBox="1"/>
          <p:nvPr>
            <p:ph idx="4294967295" type="sldNum"/>
          </p:nvPr>
        </p:nvSpPr>
        <p:spPr>
          <a:xfrm>
            <a:off x="8230724" y="137159"/>
            <a:ext cx="136037" cy="186230"/>
          </a:xfrm>
          <a:prstGeom prst="rect">
            <a:avLst/>
          </a:prstGeom>
          <a:noFill/>
          <a:ln>
            <a:noFill/>
          </a:ln>
        </p:spPr>
        <p:txBody>
          <a:bodyPr anchorCtr="0" anchor="t" bIns="34275" lIns="34275" spcFirstLastPara="1" rIns="34275" wrap="square" tIns="34275">
            <a:spAutoFit/>
          </a:bodyPr>
          <a:lstStyle/>
          <a:p>
            <a:pPr indent="0" lvl="0" marL="0" rtl="0" algn="r">
              <a:lnSpc>
                <a:spcPct val="100000"/>
              </a:lnSpc>
              <a:spcBef>
                <a:spcPts val="0"/>
              </a:spcBef>
              <a:spcAft>
                <a:spcPts val="0"/>
              </a:spcAft>
              <a:buClr>
                <a:srgbClr val="94A3B8"/>
              </a:buClr>
              <a:buSzPts val="900"/>
              <a:buFont typeface="Calibri"/>
              <a:buNone/>
            </a:pPr>
            <a:fld id="{00000000-1234-1234-1234-123412341234}" type="slidenum">
              <a:rPr lang="en" sz="900">
                <a:solidFill>
                  <a:srgbClr val="94A3B8"/>
                </a:solidFill>
              </a:rPr>
              <a:t>‹#›</a:t>
            </a:fld>
            <a:endParaRPr/>
          </a:p>
        </p:txBody>
      </p:sp>
      <p:sp>
        <p:nvSpPr>
          <p:cNvPr id="138" name="Google Shape;138;p25"/>
          <p:cNvSpPr/>
          <p:nvPr/>
        </p:nvSpPr>
        <p:spPr>
          <a:xfrm>
            <a:off x="411480" y="2057400"/>
            <a:ext cx="1028700" cy="960120"/>
          </a:xfrm>
          <a:prstGeom prst="roundRect">
            <a:avLst>
              <a:gd fmla="val 8000" name="adj"/>
            </a:avLst>
          </a:prstGeom>
          <a:solidFill>
            <a:srgbClr val="101D2E"/>
          </a:solidFill>
          <a:ln cap="flat" cmpd="sng" w="19050">
            <a:solidFill>
              <a:schemeClr val="accent2"/>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400"/>
              <a:buFont typeface="Calibri"/>
              <a:buNone/>
            </a:pPr>
            <a:r>
              <a:rPr b="1" i="0" lang="en" sz="1400" u="none" cap="none" strike="noStrike">
                <a:solidFill>
                  <a:srgbClr val="F1F5F9"/>
                </a:solidFill>
                <a:latin typeface="Calibri"/>
                <a:ea typeface="Calibri"/>
                <a:cs typeface="Calibri"/>
                <a:sym typeface="Calibri"/>
              </a:rPr>
              <a:t>Kafka</a:t>
            </a:r>
            <a:endParaRPr sz="1100"/>
          </a:p>
        </p:txBody>
      </p:sp>
      <p:cxnSp>
        <p:nvCxnSpPr>
          <p:cNvPr id="139" name="Google Shape;139;p25"/>
          <p:cNvCxnSpPr/>
          <p:nvPr/>
        </p:nvCxnSpPr>
        <p:spPr>
          <a:xfrm>
            <a:off x="1474470" y="2537460"/>
            <a:ext cx="274320" cy="0"/>
          </a:xfrm>
          <a:prstGeom prst="straightConnector1">
            <a:avLst/>
          </a:prstGeom>
          <a:noFill/>
          <a:ln cap="flat" cmpd="sng" w="22225">
            <a:solidFill>
              <a:schemeClr val="accent1"/>
            </a:solidFill>
            <a:prstDash val="solid"/>
            <a:round/>
            <a:headEnd len="sm" w="sm" type="none"/>
            <a:tailEnd len="med" w="med" type="triangle"/>
          </a:ln>
        </p:spPr>
      </p:cxnSp>
      <p:sp>
        <p:nvSpPr>
          <p:cNvPr id="140" name="Google Shape;140;p25"/>
          <p:cNvSpPr/>
          <p:nvPr/>
        </p:nvSpPr>
        <p:spPr>
          <a:xfrm>
            <a:off x="1783080" y="1337310"/>
            <a:ext cx="5074800" cy="2434500"/>
          </a:xfrm>
          <a:prstGeom prst="roundRect">
            <a:avLst>
              <a:gd fmla="val 4000" name="adj"/>
            </a:avLst>
          </a:prstGeom>
          <a:solidFill>
            <a:srgbClr val="101D2E"/>
          </a:solidFill>
          <a:ln cap="flat" cmpd="sng" w="222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141" name="Google Shape;141;p25"/>
          <p:cNvSpPr txBox="1"/>
          <p:nvPr/>
        </p:nvSpPr>
        <p:spPr>
          <a:xfrm>
            <a:off x="1988820" y="1440180"/>
            <a:ext cx="4663440" cy="205740"/>
          </a:xfrm>
          <a:prstGeom prst="rect">
            <a:avLst/>
          </a:prstGeom>
          <a:noFill/>
          <a:ln>
            <a:noFill/>
          </a:ln>
        </p:spPr>
        <p:txBody>
          <a:bodyPr anchorCtr="0" anchor="t" bIns="20575" lIns="0" spcFirstLastPara="1" rIns="0" wrap="square" tIns="20575">
            <a:spAutoFit/>
          </a:bodyPr>
          <a:lstStyle/>
          <a:p>
            <a:pPr indent="0" lvl="0" marL="0" marR="0" rtl="0" algn="l">
              <a:lnSpc>
                <a:spcPct val="100000"/>
              </a:lnSpc>
              <a:spcBef>
                <a:spcPts val="0"/>
              </a:spcBef>
              <a:spcAft>
                <a:spcPts val="0"/>
              </a:spcAft>
              <a:buClr>
                <a:schemeClr val="accent1"/>
              </a:buClr>
              <a:buSzPts val="900"/>
              <a:buFont typeface="Calibri"/>
              <a:buNone/>
            </a:pPr>
            <a:r>
              <a:rPr b="1" i="0" lang="en" sz="900" u="none" cap="none" strike="noStrike">
                <a:solidFill>
                  <a:schemeClr val="accent1"/>
                </a:solidFill>
                <a:latin typeface="Calibri"/>
                <a:ea typeface="Calibri"/>
                <a:cs typeface="Calibri"/>
                <a:sym typeface="Calibri"/>
              </a:rPr>
              <a:t>SENTINEL  ·  PYTHON DETECTION ENGINE</a:t>
            </a:r>
            <a:endParaRPr sz="1100"/>
          </a:p>
        </p:txBody>
      </p:sp>
      <p:sp>
        <p:nvSpPr>
          <p:cNvPr id="142" name="Google Shape;142;p25"/>
          <p:cNvSpPr/>
          <p:nvPr/>
        </p:nvSpPr>
        <p:spPr>
          <a:xfrm>
            <a:off x="1920240" y="1954530"/>
            <a:ext cx="994410" cy="685800"/>
          </a:xfrm>
          <a:prstGeom prst="roundRect">
            <a:avLst>
              <a:gd fmla="val 8000" name="adj"/>
            </a:avLst>
          </a:prstGeom>
          <a:solidFill>
            <a:srgbClr val="101D2E"/>
          </a:solidFill>
          <a:ln cap="flat" cmpd="sng" w="19050">
            <a:solidFill>
              <a:schemeClr val="accent1"/>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VALIDATE</a:t>
            </a:r>
            <a:endParaRPr sz="1100"/>
          </a:p>
        </p:txBody>
      </p:sp>
      <p:sp>
        <p:nvSpPr>
          <p:cNvPr id="143" name="Google Shape;143;p25"/>
          <p:cNvSpPr txBox="1"/>
          <p:nvPr/>
        </p:nvSpPr>
        <p:spPr>
          <a:xfrm>
            <a:off x="1920240" y="2708910"/>
            <a:ext cx="994500" cy="1800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contract</a:t>
            </a:r>
            <a:endParaRPr sz="1100"/>
          </a:p>
        </p:txBody>
      </p:sp>
      <p:cxnSp>
        <p:nvCxnSpPr>
          <p:cNvPr id="144" name="Google Shape;144;p25"/>
          <p:cNvCxnSpPr/>
          <p:nvPr/>
        </p:nvCxnSpPr>
        <p:spPr>
          <a:xfrm>
            <a:off x="2928365" y="2297430"/>
            <a:ext cx="246889" cy="0"/>
          </a:xfrm>
          <a:prstGeom prst="straightConnector1">
            <a:avLst/>
          </a:prstGeom>
          <a:noFill/>
          <a:ln cap="flat" cmpd="sng" w="19050">
            <a:solidFill>
              <a:schemeClr val="accent1"/>
            </a:solidFill>
            <a:prstDash val="solid"/>
            <a:round/>
            <a:headEnd len="sm" w="sm" type="none"/>
            <a:tailEnd len="med" w="med" type="triangle"/>
          </a:ln>
        </p:spPr>
      </p:cxnSp>
      <p:sp>
        <p:nvSpPr>
          <p:cNvPr id="145" name="Google Shape;145;p25"/>
          <p:cNvSpPr/>
          <p:nvPr/>
        </p:nvSpPr>
        <p:spPr>
          <a:xfrm>
            <a:off x="3188970" y="1954530"/>
            <a:ext cx="994410" cy="685800"/>
          </a:xfrm>
          <a:prstGeom prst="roundRect">
            <a:avLst>
              <a:gd fmla="val 8000" name="adj"/>
            </a:avLst>
          </a:prstGeom>
          <a:solidFill>
            <a:srgbClr val="101D2E"/>
          </a:solidFill>
          <a:ln cap="flat" cmpd="sng" w="19050">
            <a:solidFill>
              <a:schemeClr val="accent1"/>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PROFILE</a:t>
            </a:r>
            <a:endParaRPr sz="1100"/>
          </a:p>
        </p:txBody>
      </p:sp>
      <p:sp>
        <p:nvSpPr>
          <p:cNvPr id="146" name="Google Shape;146;p25"/>
          <p:cNvSpPr txBox="1"/>
          <p:nvPr/>
        </p:nvSpPr>
        <p:spPr>
          <a:xfrm>
            <a:off x="3188970" y="2708910"/>
            <a:ext cx="994500" cy="1800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metrics</a:t>
            </a:r>
            <a:endParaRPr sz="1100"/>
          </a:p>
        </p:txBody>
      </p:sp>
      <p:cxnSp>
        <p:nvCxnSpPr>
          <p:cNvPr id="147" name="Google Shape;147;p25"/>
          <p:cNvCxnSpPr/>
          <p:nvPr/>
        </p:nvCxnSpPr>
        <p:spPr>
          <a:xfrm>
            <a:off x="4197096" y="2297430"/>
            <a:ext cx="246888" cy="0"/>
          </a:xfrm>
          <a:prstGeom prst="straightConnector1">
            <a:avLst/>
          </a:prstGeom>
          <a:noFill/>
          <a:ln cap="flat" cmpd="sng" w="19050">
            <a:solidFill>
              <a:schemeClr val="accent1"/>
            </a:solidFill>
            <a:prstDash val="solid"/>
            <a:round/>
            <a:headEnd len="sm" w="sm" type="none"/>
            <a:tailEnd len="med" w="med" type="triangle"/>
          </a:ln>
        </p:spPr>
      </p:cxnSp>
      <p:sp>
        <p:nvSpPr>
          <p:cNvPr id="148" name="Google Shape;148;p25"/>
          <p:cNvSpPr/>
          <p:nvPr/>
        </p:nvSpPr>
        <p:spPr>
          <a:xfrm>
            <a:off x="4457700" y="1954530"/>
            <a:ext cx="994410" cy="685800"/>
          </a:xfrm>
          <a:prstGeom prst="roundRect">
            <a:avLst>
              <a:gd fmla="val 8000" name="adj"/>
            </a:avLst>
          </a:prstGeom>
          <a:solidFill>
            <a:srgbClr val="101D2E"/>
          </a:solidFill>
          <a:ln cap="flat" cmpd="sng" w="19050">
            <a:solidFill>
              <a:schemeClr val="accent1"/>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COMPARE</a:t>
            </a:r>
            <a:endParaRPr sz="1100"/>
          </a:p>
        </p:txBody>
      </p:sp>
      <p:sp>
        <p:nvSpPr>
          <p:cNvPr id="149" name="Google Shape;149;p25"/>
          <p:cNvSpPr txBox="1"/>
          <p:nvPr/>
        </p:nvSpPr>
        <p:spPr>
          <a:xfrm>
            <a:off x="4457700" y="2708910"/>
            <a:ext cx="994500" cy="1800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baseline</a:t>
            </a:r>
            <a:endParaRPr sz="1100"/>
          </a:p>
        </p:txBody>
      </p:sp>
      <p:cxnSp>
        <p:nvCxnSpPr>
          <p:cNvPr id="150" name="Google Shape;150;p25"/>
          <p:cNvCxnSpPr/>
          <p:nvPr/>
        </p:nvCxnSpPr>
        <p:spPr>
          <a:xfrm>
            <a:off x="5465826" y="2297430"/>
            <a:ext cx="246888" cy="0"/>
          </a:xfrm>
          <a:prstGeom prst="straightConnector1">
            <a:avLst/>
          </a:prstGeom>
          <a:noFill/>
          <a:ln cap="flat" cmpd="sng" w="19050">
            <a:solidFill>
              <a:schemeClr val="accent1"/>
            </a:solidFill>
            <a:prstDash val="solid"/>
            <a:round/>
            <a:headEnd len="sm" w="sm" type="none"/>
            <a:tailEnd len="med" w="med" type="triangle"/>
          </a:ln>
        </p:spPr>
      </p:cxnSp>
      <p:sp>
        <p:nvSpPr>
          <p:cNvPr id="151" name="Google Shape;151;p25"/>
          <p:cNvSpPr/>
          <p:nvPr/>
        </p:nvSpPr>
        <p:spPr>
          <a:xfrm>
            <a:off x="5726430" y="1954530"/>
            <a:ext cx="994410" cy="685800"/>
          </a:xfrm>
          <a:prstGeom prst="roundRect">
            <a:avLst>
              <a:gd fmla="val 8000" name="adj"/>
            </a:avLst>
          </a:prstGeom>
          <a:solidFill>
            <a:srgbClr val="101D2E"/>
          </a:solidFill>
          <a:ln cap="flat" cmpd="sng" w="25400">
            <a:solidFill>
              <a:schemeClr val="accent4"/>
            </a:solidFill>
            <a:prstDash val="solid"/>
            <a:round/>
            <a:headEnd len="sm" w="sm" type="none"/>
            <a:tailEnd len="sm" w="sm" type="none"/>
          </a:ln>
        </p:spPr>
        <p:txBody>
          <a:bodyPr anchorCtr="0" anchor="ctr" bIns="20575" lIns="34275" spcFirstLastPara="1" rIns="34275" wrap="square" tIns="20575">
            <a:noAutofit/>
          </a:bodyPr>
          <a:lstStyle/>
          <a:p>
            <a:pPr indent="0" lvl="0" marL="0" marR="0" rtl="0" algn="ctr">
              <a:lnSpc>
                <a:spcPct val="100000"/>
              </a:lnSpc>
              <a:spcBef>
                <a:spcPts val="0"/>
              </a:spcBef>
              <a:spcAft>
                <a:spcPts val="0"/>
              </a:spcAft>
              <a:buClr>
                <a:schemeClr val="accent4"/>
              </a:buClr>
              <a:buSzPts val="1100"/>
              <a:buFont typeface="Calibri"/>
              <a:buNone/>
            </a:pPr>
            <a:r>
              <a:rPr b="1" i="0" lang="en" sz="1100" u="none" cap="none" strike="noStrike">
                <a:solidFill>
                  <a:schemeClr val="accent4"/>
                </a:solidFill>
                <a:latin typeface="Calibri"/>
                <a:ea typeface="Calibri"/>
                <a:cs typeface="Calibri"/>
                <a:sym typeface="Calibri"/>
              </a:rPr>
              <a:t>DETECT</a:t>
            </a:r>
            <a:endParaRPr sz="1100"/>
          </a:p>
        </p:txBody>
      </p:sp>
      <p:sp>
        <p:nvSpPr>
          <p:cNvPr id="152" name="Google Shape;152;p25"/>
          <p:cNvSpPr txBox="1"/>
          <p:nvPr/>
        </p:nvSpPr>
        <p:spPr>
          <a:xfrm>
            <a:off x="5726430" y="2708910"/>
            <a:ext cx="994500" cy="1800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rules</a:t>
            </a:r>
            <a:endParaRPr sz="1100"/>
          </a:p>
        </p:txBody>
      </p:sp>
      <p:sp>
        <p:nvSpPr>
          <p:cNvPr id="153" name="Google Shape;153;p25"/>
          <p:cNvSpPr txBox="1"/>
          <p:nvPr/>
        </p:nvSpPr>
        <p:spPr>
          <a:xfrm>
            <a:off x="1920240" y="3257550"/>
            <a:ext cx="4800600" cy="20574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Configurable thresholds + historical baselines</a:t>
            </a:r>
            <a:endParaRPr sz="1100"/>
          </a:p>
        </p:txBody>
      </p:sp>
      <p:cxnSp>
        <p:nvCxnSpPr>
          <p:cNvPr id="154" name="Google Shape;154;p25"/>
          <p:cNvCxnSpPr/>
          <p:nvPr/>
        </p:nvCxnSpPr>
        <p:spPr>
          <a:xfrm>
            <a:off x="6892290" y="2537460"/>
            <a:ext cx="274320" cy="0"/>
          </a:xfrm>
          <a:prstGeom prst="straightConnector1">
            <a:avLst/>
          </a:prstGeom>
          <a:noFill/>
          <a:ln cap="flat" cmpd="sng" w="22225">
            <a:solidFill>
              <a:schemeClr val="accent1"/>
            </a:solidFill>
            <a:prstDash val="solid"/>
            <a:round/>
            <a:headEnd len="sm" w="sm" type="none"/>
            <a:tailEnd len="med" w="med" type="triangle"/>
          </a:ln>
        </p:spPr>
      </p:cxnSp>
      <p:sp>
        <p:nvSpPr>
          <p:cNvPr id="155" name="Google Shape;155;p25"/>
          <p:cNvSpPr/>
          <p:nvPr/>
        </p:nvSpPr>
        <p:spPr>
          <a:xfrm>
            <a:off x="7200900" y="1783080"/>
            <a:ext cx="1529334" cy="1508760"/>
          </a:xfrm>
          <a:prstGeom prst="roundRect">
            <a:avLst>
              <a:gd fmla="val 5000" name="adj"/>
            </a:avLst>
          </a:prstGeom>
          <a:solidFill>
            <a:srgbClr val="101D2E"/>
          </a:solidFill>
          <a:ln cap="flat" cmpd="sng" w="2222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156" name="Google Shape;156;p25"/>
          <p:cNvPicPr preferRelativeResize="0"/>
          <p:nvPr/>
        </p:nvPicPr>
        <p:blipFill rotWithShape="1">
          <a:blip r:embed="rId3">
            <a:alphaModFix/>
          </a:blip>
          <a:srcRect b="0" l="0" r="0" t="0"/>
          <a:stretch/>
        </p:blipFill>
        <p:spPr>
          <a:xfrm>
            <a:off x="7338060" y="1920240"/>
            <a:ext cx="342900" cy="342900"/>
          </a:xfrm>
          <a:prstGeom prst="rect">
            <a:avLst/>
          </a:prstGeom>
          <a:noFill/>
          <a:ln>
            <a:noFill/>
          </a:ln>
        </p:spPr>
      </p:pic>
      <p:sp>
        <p:nvSpPr>
          <p:cNvPr id="157" name="Google Shape;157;p25"/>
          <p:cNvSpPr txBox="1"/>
          <p:nvPr/>
        </p:nvSpPr>
        <p:spPr>
          <a:xfrm>
            <a:off x="7749540" y="1920240"/>
            <a:ext cx="960120" cy="3429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rgbClr val="F1F5F9"/>
              </a:buClr>
              <a:buSzPts val="1500"/>
              <a:buFont typeface="Calibri"/>
              <a:buNone/>
            </a:pPr>
            <a:r>
              <a:rPr b="1" i="0" lang="en" sz="1500" u="none" cap="none" strike="noStrike">
                <a:solidFill>
                  <a:srgbClr val="F1F5F9"/>
                </a:solidFill>
                <a:latin typeface="Calibri"/>
                <a:ea typeface="Calibri"/>
                <a:cs typeface="Calibri"/>
                <a:sym typeface="Calibri"/>
              </a:rPr>
              <a:t>Incident</a:t>
            </a:r>
            <a:endParaRPr sz="1100"/>
          </a:p>
        </p:txBody>
      </p:sp>
      <p:sp>
        <p:nvSpPr>
          <p:cNvPr id="158" name="Google Shape;158;p25"/>
          <p:cNvSpPr txBox="1"/>
          <p:nvPr/>
        </p:nvSpPr>
        <p:spPr>
          <a:xfrm>
            <a:off x="7372350" y="2400300"/>
            <a:ext cx="1302900" cy="2109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4"/>
              </a:buClr>
              <a:buSzPts val="1100"/>
              <a:buFont typeface="Calibri"/>
              <a:buNone/>
            </a:pPr>
            <a:r>
              <a:rPr b="1" i="0" lang="en" sz="1100" u="none" cap="none" strike="noStrike">
                <a:solidFill>
                  <a:schemeClr val="accent4"/>
                </a:solidFill>
                <a:latin typeface="Calibri"/>
                <a:ea typeface="Calibri"/>
                <a:cs typeface="Calibri"/>
                <a:sym typeface="Calibri"/>
              </a:rPr>
              <a:t>What changed?</a:t>
            </a:r>
            <a:endParaRPr sz="1100"/>
          </a:p>
        </p:txBody>
      </p:sp>
      <p:sp>
        <p:nvSpPr>
          <p:cNvPr id="159" name="Google Shape;159;p25"/>
          <p:cNvSpPr txBox="1"/>
          <p:nvPr/>
        </p:nvSpPr>
        <p:spPr>
          <a:xfrm>
            <a:off x="7372350" y="2674620"/>
            <a:ext cx="1302900" cy="2109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4"/>
              </a:buClr>
              <a:buSzPts val="1100"/>
              <a:buFont typeface="Calibri"/>
              <a:buNone/>
            </a:pPr>
            <a:r>
              <a:rPr b="1" i="0" lang="en" sz="1100" u="none" cap="none" strike="noStrike">
                <a:solidFill>
                  <a:schemeClr val="accent4"/>
                </a:solidFill>
                <a:latin typeface="Calibri"/>
                <a:ea typeface="Calibri"/>
                <a:cs typeface="Calibri"/>
                <a:sym typeface="Calibri"/>
              </a:rPr>
              <a:t>Where?</a:t>
            </a:r>
            <a:endParaRPr sz="1100"/>
          </a:p>
        </p:txBody>
      </p:sp>
      <p:sp>
        <p:nvSpPr>
          <p:cNvPr id="160" name="Google Shape;160;p25"/>
          <p:cNvSpPr txBox="1"/>
          <p:nvPr/>
        </p:nvSpPr>
        <p:spPr>
          <a:xfrm>
            <a:off x="7372350" y="2948940"/>
            <a:ext cx="1302900" cy="21090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4"/>
              </a:buClr>
              <a:buSzPts val="1100"/>
              <a:buFont typeface="Calibri"/>
              <a:buNone/>
            </a:pPr>
            <a:r>
              <a:rPr b="1" i="0" lang="en" sz="1100" u="none" cap="none" strike="noStrike">
                <a:solidFill>
                  <a:schemeClr val="accent4"/>
                </a:solidFill>
                <a:latin typeface="Calibri"/>
                <a:ea typeface="Calibri"/>
                <a:cs typeface="Calibri"/>
                <a:sym typeface="Calibri"/>
              </a:rPr>
              <a:t>When?</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type="title"/>
          </p:nvPr>
        </p:nvSpPr>
        <p:spPr>
          <a:xfrm>
            <a:off x="411480" y="548639"/>
            <a:ext cx="8318754" cy="582931"/>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Clr>
                <a:srgbClr val="F1F5F9"/>
              </a:buClr>
              <a:buSzPts val="2400"/>
              <a:buFont typeface="Calibri"/>
              <a:buNone/>
            </a:pPr>
            <a:r>
              <a:rPr b="1" lang="en" sz="2400">
                <a:solidFill>
                  <a:srgbClr val="F1F5F9"/>
                </a:solidFill>
              </a:rPr>
              <a:t>How Do We Test This Without Real Patient Data?</a:t>
            </a:r>
            <a:endParaRPr/>
          </a:p>
        </p:txBody>
      </p:sp>
      <p:sp>
        <p:nvSpPr>
          <p:cNvPr id="166" name="Google Shape;166;p26"/>
          <p:cNvSpPr txBox="1"/>
          <p:nvPr>
            <p:ph idx="4294967295" type="sldNum"/>
          </p:nvPr>
        </p:nvSpPr>
        <p:spPr>
          <a:xfrm>
            <a:off x="8230724" y="137159"/>
            <a:ext cx="136037" cy="186230"/>
          </a:xfrm>
          <a:prstGeom prst="rect">
            <a:avLst/>
          </a:prstGeom>
          <a:noFill/>
          <a:ln>
            <a:noFill/>
          </a:ln>
        </p:spPr>
        <p:txBody>
          <a:bodyPr anchorCtr="0" anchor="t" bIns="34275" lIns="34275" spcFirstLastPara="1" rIns="34275" wrap="square" tIns="34275">
            <a:spAutoFit/>
          </a:bodyPr>
          <a:lstStyle/>
          <a:p>
            <a:pPr indent="0" lvl="0" marL="0" rtl="0" algn="r">
              <a:lnSpc>
                <a:spcPct val="100000"/>
              </a:lnSpc>
              <a:spcBef>
                <a:spcPts val="0"/>
              </a:spcBef>
              <a:spcAft>
                <a:spcPts val="0"/>
              </a:spcAft>
              <a:buClr>
                <a:srgbClr val="94A3B8"/>
              </a:buClr>
              <a:buSzPts val="900"/>
              <a:buFont typeface="Calibri"/>
              <a:buNone/>
            </a:pPr>
            <a:fld id="{00000000-1234-1234-1234-123412341234}" type="slidenum">
              <a:rPr lang="en" sz="900">
                <a:solidFill>
                  <a:srgbClr val="94A3B8"/>
                </a:solidFill>
              </a:rPr>
              <a:t>‹#›</a:t>
            </a:fld>
            <a:endParaRPr/>
          </a:p>
        </p:txBody>
      </p:sp>
      <p:sp>
        <p:nvSpPr>
          <p:cNvPr id="167" name="Google Shape;167;p26"/>
          <p:cNvSpPr/>
          <p:nvPr/>
        </p:nvSpPr>
        <p:spPr>
          <a:xfrm>
            <a:off x="411480" y="1508760"/>
            <a:ext cx="1508760" cy="788670"/>
          </a:xfrm>
          <a:prstGeom prst="roundRect">
            <a:avLst>
              <a:gd fmla="val 12000"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synthea.png" id="168" name="Google Shape;168;p26"/>
          <p:cNvPicPr preferRelativeResize="0"/>
          <p:nvPr/>
        </p:nvPicPr>
        <p:blipFill rotWithShape="1">
          <a:blip r:embed="rId3">
            <a:alphaModFix/>
          </a:blip>
          <a:srcRect b="0" l="0" r="0" t="0"/>
          <a:stretch/>
        </p:blipFill>
        <p:spPr>
          <a:xfrm>
            <a:off x="788670" y="1525905"/>
            <a:ext cx="754380" cy="754380"/>
          </a:xfrm>
          <a:prstGeom prst="rect">
            <a:avLst/>
          </a:prstGeom>
          <a:noFill/>
          <a:ln>
            <a:noFill/>
          </a:ln>
        </p:spPr>
      </p:pic>
      <p:sp>
        <p:nvSpPr>
          <p:cNvPr id="169" name="Google Shape;169;p26"/>
          <p:cNvSpPr/>
          <p:nvPr/>
        </p:nvSpPr>
        <p:spPr>
          <a:xfrm>
            <a:off x="411480" y="2468880"/>
            <a:ext cx="1508760" cy="480060"/>
          </a:xfrm>
          <a:prstGeom prst="roundRect">
            <a:avLst>
              <a:gd fmla="val 12000" name="adj"/>
            </a:avLst>
          </a:prstGeom>
          <a:solidFill>
            <a:srgbClr val="FFFFFF"/>
          </a:solidFill>
          <a:ln cap="flat" cmpd="sng" w="12700">
            <a:solidFill>
              <a:srgbClr val="94A3B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hapi_banner.png" id="170" name="Google Shape;170;p26"/>
          <p:cNvPicPr preferRelativeResize="0"/>
          <p:nvPr/>
        </p:nvPicPr>
        <p:blipFill rotWithShape="1">
          <a:blip r:embed="rId4">
            <a:alphaModFix/>
          </a:blip>
          <a:srcRect b="0" l="0" r="0" t="0"/>
          <a:stretch/>
        </p:blipFill>
        <p:spPr>
          <a:xfrm>
            <a:off x="497205" y="2584616"/>
            <a:ext cx="1337310" cy="248588"/>
          </a:xfrm>
          <a:prstGeom prst="rect">
            <a:avLst/>
          </a:prstGeom>
          <a:noFill/>
          <a:ln>
            <a:noFill/>
          </a:ln>
        </p:spPr>
      </p:pic>
      <p:sp>
        <p:nvSpPr>
          <p:cNvPr id="171" name="Google Shape;171;p26"/>
          <p:cNvSpPr txBox="1"/>
          <p:nvPr/>
        </p:nvSpPr>
        <p:spPr>
          <a:xfrm>
            <a:off x="411480" y="2983229"/>
            <a:ext cx="1508760"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optional</a:t>
            </a:r>
            <a:endParaRPr sz="1100"/>
          </a:p>
        </p:txBody>
      </p:sp>
      <p:cxnSp>
        <p:nvCxnSpPr>
          <p:cNvPr id="172" name="Google Shape;172;p26"/>
          <p:cNvCxnSpPr/>
          <p:nvPr/>
        </p:nvCxnSpPr>
        <p:spPr>
          <a:xfrm>
            <a:off x="1954530" y="2708910"/>
            <a:ext cx="137160" cy="0"/>
          </a:xfrm>
          <a:prstGeom prst="straightConnector1">
            <a:avLst/>
          </a:prstGeom>
          <a:noFill/>
          <a:ln cap="flat" cmpd="sng" w="15875">
            <a:solidFill>
              <a:srgbClr val="94A3B8"/>
            </a:solidFill>
            <a:prstDash val="dash"/>
            <a:round/>
            <a:headEnd len="sm" w="sm" type="none"/>
            <a:tailEnd len="sm" w="sm" type="none"/>
          </a:ln>
        </p:spPr>
      </p:cxnSp>
      <p:cxnSp>
        <p:nvCxnSpPr>
          <p:cNvPr id="173" name="Google Shape;173;p26"/>
          <p:cNvCxnSpPr/>
          <p:nvPr/>
        </p:nvCxnSpPr>
        <p:spPr>
          <a:xfrm rot="10800000">
            <a:off x="2091690" y="1906524"/>
            <a:ext cx="0" cy="802386"/>
          </a:xfrm>
          <a:prstGeom prst="straightConnector1">
            <a:avLst/>
          </a:prstGeom>
          <a:noFill/>
          <a:ln cap="flat" cmpd="sng" w="15875">
            <a:solidFill>
              <a:srgbClr val="94A3B8"/>
            </a:solidFill>
            <a:prstDash val="dash"/>
            <a:round/>
            <a:headEnd len="sm" w="sm" type="none"/>
            <a:tailEnd len="sm" w="sm" type="none"/>
          </a:ln>
        </p:spPr>
      </p:cxnSp>
      <p:cxnSp>
        <p:nvCxnSpPr>
          <p:cNvPr id="174" name="Google Shape;174;p26"/>
          <p:cNvCxnSpPr>
            <a:endCxn id="175" idx="1"/>
          </p:cNvCxnSpPr>
          <p:nvPr/>
        </p:nvCxnSpPr>
        <p:spPr>
          <a:xfrm flipH="1" rot="10800000">
            <a:off x="1954671" y="1903095"/>
            <a:ext cx="3185400" cy="3300"/>
          </a:xfrm>
          <a:prstGeom prst="straightConnector1">
            <a:avLst/>
          </a:prstGeom>
          <a:noFill/>
          <a:ln cap="flat" cmpd="sng" w="22225">
            <a:solidFill>
              <a:schemeClr val="accent1"/>
            </a:solidFill>
            <a:prstDash val="solid"/>
            <a:round/>
            <a:headEnd len="sm" w="sm" type="none"/>
            <a:tailEnd len="med" w="med" type="triangle"/>
          </a:ln>
        </p:spPr>
      </p:cxnSp>
      <p:sp>
        <p:nvSpPr>
          <p:cNvPr id="176" name="Google Shape;176;p26"/>
          <p:cNvSpPr/>
          <p:nvPr/>
        </p:nvSpPr>
        <p:spPr>
          <a:xfrm>
            <a:off x="2263140" y="1632204"/>
            <a:ext cx="822960" cy="548640"/>
          </a:xfrm>
          <a:prstGeom prst="roundRect">
            <a:avLst>
              <a:gd fmla="val 12000"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fhir_logo.png" id="177" name="Google Shape;177;p26"/>
          <p:cNvPicPr preferRelativeResize="0"/>
          <p:nvPr/>
        </p:nvPicPr>
        <p:blipFill rotWithShape="1">
          <a:blip r:embed="rId5">
            <a:alphaModFix/>
          </a:blip>
          <a:srcRect b="0" l="0" r="0" t="0"/>
          <a:stretch/>
        </p:blipFill>
        <p:spPr>
          <a:xfrm>
            <a:off x="2348865" y="1726634"/>
            <a:ext cx="651510" cy="359778"/>
          </a:xfrm>
          <a:prstGeom prst="rect">
            <a:avLst/>
          </a:prstGeom>
          <a:noFill/>
          <a:ln>
            <a:noFill/>
          </a:ln>
        </p:spPr>
      </p:pic>
      <p:sp>
        <p:nvSpPr>
          <p:cNvPr id="178" name="Google Shape;178;p26"/>
          <p:cNvSpPr txBox="1"/>
          <p:nvPr/>
        </p:nvSpPr>
        <p:spPr>
          <a:xfrm>
            <a:off x="2194560" y="2215134"/>
            <a:ext cx="960120"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healthcare standard</a:t>
            </a:r>
            <a:endParaRPr sz="1100"/>
          </a:p>
        </p:txBody>
      </p:sp>
      <p:sp>
        <p:nvSpPr>
          <p:cNvPr id="179" name="Google Shape;179;p26"/>
          <p:cNvSpPr/>
          <p:nvPr/>
        </p:nvSpPr>
        <p:spPr>
          <a:xfrm>
            <a:off x="3233550" y="1560188"/>
            <a:ext cx="685800" cy="685800"/>
          </a:xfrm>
          <a:prstGeom prst="roundRect">
            <a:avLst>
              <a:gd fmla="val 12000" name="adj"/>
            </a:avLst>
          </a:prstGeom>
          <a:solidFill>
            <a:srgbClr val="FFFFFF"/>
          </a:solidFill>
          <a:ln cap="flat" cmpd="sng" w="2540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180" name="Google Shape;180;p26"/>
          <p:cNvSpPr txBox="1"/>
          <p:nvPr/>
        </p:nvSpPr>
        <p:spPr>
          <a:xfrm>
            <a:off x="3044962" y="2348785"/>
            <a:ext cx="1062900" cy="1956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F1F5F9"/>
              </a:buClr>
              <a:buSzPts val="1000"/>
              <a:buFont typeface="Calibri"/>
              <a:buNone/>
            </a:pPr>
            <a:r>
              <a:rPr b="1" lang="en" sz="1000">
                <a:solidFill>
                  <a:srgbClr val="F1F5F9"/>
                </a:solidFill>
                <a:latin typeface="Calibri"/>
                <a:ea typeface="Calibri"/>
                <a:cs typeface="Calibri"/>
                <a:sym typeface="Calibri"/>
              </a:rPr>
              <a:t>GCP</a:t>
            </a:r>
            <a:endParaRPr sz="1100"/>
          </a:p>
        </p:txBody>
      </p:sp>
      <p:sp>
        <p:nvSpPr>
          <p:cNvPr id="181" name="Google Shape;181;p26"/>
          <p:cNvSpPr txBox="1"/>
          <p:nvPr/>
        </p:nvSpPr>
        <p:spPr>
          <a:xfrm>
            <a:off x="3130687" y="2540809"/>
            <a:ext cx="891600" cy="2877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Bronze · Raw FHIR NDJSON</a:t>
            </a:r>
            <a:endParaRPr sz="1100"/>
          </a:p>
        </p:txBody>
      </p:sp>
      <p:sp>
        <p:nvSpPr>
          <p:cNvPr id="182" name="Google Shape;182;p26"/>
          <p:cNvSpPr/>
          <p:nvPr/>
        </p:nvSpPr>
        <p:spPr>
          <a:xfrm>
            <a:off x="4063377" y="1632204"/>
            <a:ext cx="822900" cy="548700"/>
          </a:xfrm>
          <a:prstGeom prst="roundRect">
            <a:avLst>
              <a:gd fmla="val 12000" name="adj"/>
            </a:avLst>
          </a:prstGeom>
          <a:solidFill>
            <a:srgbClr val="FFFFFF"/>
          </a:solidFill>
          <a:ln cap="flat" cmpd="sng" w="25400">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python.png" id="183" name="Google Shape;183;p26"/>
          <p:cNvPicPr preferRelativeResize="0"/>
          <p:nvPr/>
        </p:nvPicPr>
        <p:blipFill rotWithShape="1">
          <a:blip r:embed="rId6">
            <a:alphaModFix/>
          </a:blip>
          <a:srcRect b="0" l="0" r="0" t="0"/>
          <a:stretch/>
        </p:blipFill>
        <p:spPr>
          <a:xfrm>
            <a:off x="4131944" y="1807840"/>
            <a:ext cx="685800" cy="231643"/>
          </a:xfrm>
          <a:prstGeom prst="rect">
            <a:avLst/>
          </a:prstGeom>
          <a:noFill/>
          <a:ln>
            <a:noFill/>
          </a:ln>
        </p:spPr>
      </p:pic>
      <p:sp>
        <p:nvSpPr>
          <p:cNvPr id="184" name="Google Shape;184;p26"/>
          <p:cNvSpPr txBox="1"/>
          <p:nvPr/>
        </p:nvSpPr>
        <p:spPr>
          <a:xfrm>
            <a:off x="4006222" y="2292500"/>
            <a:ext cx="920100" cy="441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Python producer</a:t>
            </a:r>
            <a:endParaRPr sz="1100"/>
          </a:p>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replay + failure injection</a:t>
            </a:r>
            <a:endParaRPr sz="1100"/>
          </a:p>
        </p:txBody>
      </p:sp>
      <p:sp>
        <p:nvSpPr>
          <p:cNvPr id="185" name="Google Shape;185;p26"/>
          <p:cNvSpPr txBox="1"/>
          <p:nvPr/>
        </p:nvSpPr>
        <p:spPr>
          <a:xfrm>
            <a:off x="3926217" y="1268730"/>
            <a:ext cx="1097400" cy="19560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chemeClr val="accent4"/>
              </a:buClr>
              <a:buSzPts val="1000"/>
              <a:buFont typeface="Calibri"/>
              <a:buNone/>
            </a:pPr>
            <a:r>
              <a:rPr b="1" i="0" lang="en" sz="1000" u="none" cap="none" strike="noStrike">
                <a:solidFill>
                  <a:schemeClr val="accent4"/>
                </a:solidFill>
                <a:latin typeface="Calibri"/>
                <a:ea typeface="Calibri"/>
                <a:cs typeface="Calibri"/>
                <a:sym typeface="Calibri"/>
              </a:rPr>
              <a:t>⚡ Inject failure</a:t>
            </a:r>
            <a:endParaRPr sz="1100"/>
          </a:p>
        </p:txBody>
      </p:sp>
      <p:cxnSp>
        <p:nvCxnSpPr>
          <p:cNvPr id="186" name="Google Shape;186;p26"/>
          <p:cNvCxnSpPr>
            <a:stCxn id="182" idx="0"/>
            <a:endCxn id="185" idx="2"/>
          </p:cNvCxnSpPr>
          <p:nvPr/>
        </p:nvCxnSpPr>
        <p:spPr>
          <a:xfrm rot="10800000">
            <a:off x="4474827" y="1464204"/>
            <a:ext cx="0" cy="168000"/>
          </a:xfrm>
          <a:prstGeom prst="straightConnector1">
            <a:avLst/>
          </a:prstGeom>
          <a:noFill/>
          <a:ln cap="flat" cmpd="sng" w="19050">
            <a:solidFill>
              <a:schemeClr val="accent4"/>
            </a:solidFill>
            <a:prstDash val="solid"/>
            <a:round/>
            <a:headEnd len="sm" w="sm" type="none"/>
            <a:tailEnd len="med" w="med" type="triangle"/>
          </a:ln>
        </p:spPr>
      </p:cxnSp>
      <p:sp>
        <p:nvSpPr>
          <p:cNvPr id="175" name="Google Shape;175;p26"/>
          <p:cNvSpPr/>
          <p:nvPr/>
        </p:nvSpPr>
        <p:spPr>
          <a:xfrm>
            <a:off x="5140071" y="1508760"/>
            <a:ext cx="788670" cy="788670"/>
          </a:xfrm>
          <a:prstGeom prst="roundRect">
            <a:avLst>
              <a:gd fmla="val 12000" name="adj"/>
            </a:avLst>
          </a:prstGeom>
          <a:solidFill>
            <a:srgbClr val="FFFFFF"/>
          </a:solidFill>
          <a:ln cap="flat" cmpd="sng" w="25400">
            <a:solidFill>
              <a:schemeClr val="accent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kafka.png" id="187" name="Google Shape;187;p26"/>
          <p:cNvPicPr preferRelativeResize="0"/>
          <p:nvPr/>
        </p:nvPicPr>
        <p:blipFill rotWithShape="1">
          <a:blip r:embed="rId7">
            <a:alphaModFix/>
          </a:blip>
          <a:srcRect b="0" l="0" r="0" t="0"/>
          <a:stretch/>
        </p:blipFill>
        <p:spPr>
          <a:xfrm>
            <a:off x="5333735" y="1577340"/>
            <a:ext cx="401341" cy="651510"/>
          </a:xfrm>
          <a:prstGeom prst="rect">
            <a:avLst/>
          </a:prstGeom>
          <a:noFill/>
          <a:ln>
            <a:noFill/>
          </a:ln>
        </p:spPr>
      </p:pic>
      <p:sp>
        <p:nvSpPr>
          <p:cNvPr id="188" name="Google Shape;188;p26"/>
          <p:cNvSpPr txBox="1"/>
          <p:nvPr/>
        </p:nvSpPr>
        <p:spPr>
          <a:xfrm>
            <a:off x="5002910" y="2366010"/>
            <a:ext cx="1062989"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Kafka</a:t>
            </a:r>
            <a:endParaRPr sz="1100"/>
          </a:p>
        </p:txBody>
      </p:sp>
      <p:sp>
        <p:nvSpPr>
          <p:cNvPr id="189" name="Google Shape;189;p26"/>
          <p:cNvSpPr txBox="1"/>
          <p:nvPr/>
        </p:nvSpPr>
        <p:spPr>
          <a:xfrm>
            <a:off x="5002910" y="2558034"/>
            <a:ext cx="1062989"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simulated stream</a:t>
            </a:r>
            <a:endParaRPr sz="1100"/>
          </a:p>
        </p:txBody>
      </p:sp>
      <p:sp>
        <p:nvSpPr>
          <p:cNvPr id="190" name="Google Shape;190;p26"/>
          <p:cNvSpPr/>
          <p:nvPr/>
        </p:nvSpPr>
        <p:spPr>
          <a:xfrm>
            <a:off x="6076187" y="1508760"/>
            <a:ext cx="788670" cy="788670"/>
          </a:xfrm>
          <a:prstGeom prst="roundRect">
            <a:avLst>
              <a:gd fmla="val 12000" name="adj"/>
            </a:avLst>
          </a:prstGeom>
          <a:solidFill>
            <a:srgbClr val="101D2E"/>
          </a:solidFill>
          <a:ln cap="flat" cmpd="sng" w="2857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png" id="191" name="Google Shape;191;p26"/>
          <p:cNvPicPr preferRelativeResize="0"/>
          <p:nvPr/>
        </p:nvPicPr>
        <p:blipFill rotWithShape="1">
          <a:blip r:embed="rId8">
            <a:alphaModFix/>
          </a:blip>
          <a:srcRect b="0" l="0" r="0" t="0"/>
          <a:stretch/>
        </p:blipFill>
        <p:spPr>
          <a:xfrm>
            <a:off x="6179058" y="1611630"/>
            <a:ext cx="582929" cy="582930"/>
          </a:xfrm>
          <a:prstGeom prst="rect">
            <a:avLst/>
          </a:prstGeom>
          <a:noFill/>
          <a:ln>
            <a:noFill/>
          </a:ln>
        </p:spPr>
      </p:pic>
      <p:sp>
        <p:nvSpPr>
          <p:cNvPr id="192" name="Google Shape;192;p26"/>
          <p:cNvSpPr txBox="1"/>
          <p:nvPr/>
        </p:nvSpPr>
        <p:spPr>
          <a:xfrm>
            <a:off x="5939027" y="2366010"/>
            <a:ext cx="1062989"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chemeClr val="accent1"/>
              </a:buClr>
              <a:buSzPts val="1000"/>
              <a:buFont typeface="Calibri"/>
              <a:buNone/>
            </a:pPr>
            <a:r>
              <a:rPr b="1" i="0" lang="en" sz="1000" u="none" cap="none" strike="noStrike">
                <a:solidFill>
                  <a:schemeClr val="accent1"/>
                </a:solidFill>
                <a:latin typeface="Calibri"/>
                <a:ea typeface="Calibri"/>
                <a:cs typeface="Calibri"/>
                <a:sym typeface="Calibri"/>
              </a:rPr>
              <a:t>SENTINEL</a:t>
            </a:r>
            <a:endParaRPr sz="1100"/>
          </a:p>
        </p:txBody>
      </p:sp>
      <p:sp>
        <p:nvSpPr>
          <p:cNvPr id="193" name="Google Shape;193;p26"/>
          <p:cNvSpPr txBox="1"/>
          <p:nvPr/>
        </p:nvSpPr>
        <p:spPr>
          <a:xfrm>
            <a:off x="5939027" y="2558034"/>
            <a:ext cx="1062989" cy="3429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data health layer</a:t>
            </a:r>
            <a:endParaRPr sz="1100"/>
          </a:p>
        </p:txBody>
      </p:sp>
      <p:sp>
        <p:nvSpPr>
          <p:cNvPr id="194" name="Google Shape;194;p26"/>
          <p:cNvSpPr/>
          <p:nvPr/>
        </p:nvSpPr>
        <p:spPr>
          <a:xfrm>
            <a:off x="7063742" y="1508760"/>
            <a:ext cx="788700" cy="788700"/>
          </a:xfrm>
          <a:prstGeom prst="roundRect">
            <a:avLst>
              <a:gd fmla="val 12000"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postgres.png" id="195" name="Google Shape;195;p26"/>
          <p:cNvPicPr preferRelativeResize="0"/>
          <p:nvPr/>
        </p:nvPicPr>
        <p:blipFill rotWithShape="1">
          <a:blip r:embed="rId9">
            <a:alphaModFix/>
          </a:blip>
          <a:srcRect b="0" l="0" r="0" t="0"/>
          <a:stretch/>
        </p:blipFill>
        <p:spPr>
          <a:xfrm>
            <a:off x="7166613" y="1602454"/>
            <a:ext cx="582930" cy="601282"/>
          </a:xfrm>
          <a:prstGeom prst="rect">
            <a:avLst/>
          </a:prstGeom>
          <a:noFill/>
          <a:ln>
            <a:noFill/>
          </a:ln>
        </p:spPr>
      </p:pic>
      <p:sp>
        <p:nvSpPr>
          <p:cNvPr id="196" name="Google Shape;196;p26"/>
          <p:cNvSpPr txBox="1"/>
          <p:nvPr/>
        </p:nvSpPr>
        <p:spPr>
          <a:xfrm>
            <a:off x="6892292" y="2366010"/>
            <a:ext cx="1131600" cy="1956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PostgreSQL</a:t>
            </a:r>
            <a:endParaRPr sz="1100"/>
          </a:p>
        </p:txBody>
      </p:sp>
      <p:sp>
        <p:nvSpPr>
          <p:cNvPr id="197" name="Google Shape;197;p26"/>
          <p:cNvSpPr txBox="1"/>
          <p:nvPr/>
        </p:nvSpPr>
        <p:spPr>
          <a:xfrm>
            <a:off x="6978017" y="2558034"/>
            <a:ext cx="960000" cy="2877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Metrics · Baselines · Schemas · Incidents</a:t>
            </a:r>
            <a:endParaRPr sz="1100"/>
          </a:p>
        </p:txBody>
      </p:sp>
      <p:sp>
        <p:nvSpPr>
          <p:cNvPr id="198" name="Google Shape;198;p26"/>
          <p:cNvSpPr/>
          <p:nvPr/>
        </p:nvSpPr>
        <p:spPr>
          <a:xfrm>
            <a:off x="8085596" y="1525898"/>
            <a:ext cx="788700" cy="788700"/>
          </a:xfrm>
          <a:prstGeom prst="roundRect">
            <a:avLst>
              <a:gd fmla="val 12000"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streamlit.png" id="199" name="Google Shape;199;p26"/>
          <p:cNvPicPr preferRelativeResize="0"/>
          <p:nvPr/>
        </p:nvPicPr>
        <p:blipFill rotWithShape="1">
          <a:blip r:embed="rId10">
            <a:alphaModFix/>
          </a:blip>
          <a:srcRect b="0" l="0" r="0" t="0"/>
          <a:stretch/>
        </p:blipFill>
        <p:spPr>
          <a:xfrm>
            <a:off x="8154176" y="1741610"/>
            <a:ext cx="651510" cy="357245"/>
          </a:xfrm>
          <a:prstGeom prst="rect">
            <a:avLst/>
          </a:prstGeom>
          <a:noFill/>
          <a:ln>
            <a:noFill/>
          </a:ln>
        </p:spPr>
      </p:pic>
      <p:sp>
        <p:nvSpPr>
          <p:cNvPr id="200" name="Google Shape;200;p26"/>
          <p:cNvSpPr txBox="1"/>
          <p:nvPr/>
        </p:nvSpPr>
        <p:spPr>
          <a:xfrm>
            <a:off x="7948437" y="2383148"/>
            <a:ext cx="1062900" cy="195600"/>
          </a:xfrm>
          <a:prstGeom prst="rect">
            <a:avLst/>
          </a:prstGeom>
          <a:noFill/>
          <a:ln>
            <a:noFill/>
          </a:ln>
        </p:spPr>
        <p:txBody>
          <a:bodyPr anchorCtr="0" anchor="t" bIns="20575" lIns="0" spcFirstLastPara="1" rIns="0" wrap="square" tIns="20575">
            <a:spAutoFit/>
          </a:bodyPr>
          <a:lstStyle/>
          <a:p>
            <a:pPr indent="0" lvl="0" marL="0" marR="0" rtl="0" algn="ctr">
              <a:lnSpc>
                <a:spcPct val="100000"/>
              </a:lnSpc>
              <a:spcBef>
                <a:spcPts val="0"/>
              </a:spcBef>
              <a:spcAft>
                <a:spcPts val="0"/>
              </a:spcAft>
              <a:buClr>
                <a:srgbClr val="F1F5F9"/>
              </a:buClr>
              <a:buSzPts val="1000"/>
              <a:buFont typeface="Calibri"/>
              <a:buNone/>
            </a:pPr>
            <a:r>
              <a:rPr b="1" i="0" lang="en" sz="1000" u="none" cap="none" strike="noStrike">
                <a:solidFill>
                  <a:srgbClr val="F1F5F9"/>
                </a:solidFill>
                <a:latin typeface="Calibri"/>
                <a:ea typeface="Calibri"/>
                <a:cs typeface="Calibri"/>
                <a:sym typeface="Calibri"/>
              </a:rPr>
              <a:t>Dashboard</a:t>
            </a:r>
            <a:endParaRPr sz="1100"/>
          </a:p>
        </p:txBody>
      </p:sp>
      <p:cxnSp>
        <p:nvCxnSpPr>
          <p:cNvPr id="201" name="Google Shape;201;p26"/>
          <p:cNvCxnSpPr/>
          <p:nvPr/>
        </p:nvCxnSpPr>
        <p:spPr>
          <a:xfrm>
            <a:off x="5936699" y="1906395"/>
            <a:ext cx="55500" cy="3600"/>
          </a:xfrm>
          <a:prstGeom prst="straightConnector1">
            <a:avLst/>
          </a:prstGeom>
          <a:noFill/>
          <a:ln cap="flat" cmpd="sng" w="22225">
            <a:solidFill>
              <a:schemeClr val="accent1"/>
            </a:solidFill>
            <a:prstDash val="solid"/>
            <a:round/>
            <a:headEnd len="sm" w="sm" type="none"/>
            <a:tailEnd len="med" w="med" type="triangle"/>
          </a:ln>
        </p:spPr>
      </p:cxnSp>
      <p:cxnSp>
        <p:nvCxnSpPr>
          <p:cNvPr id="202" name="Google Shape;202;p26"/>
          <p:cNvCxnSpPr/>
          <p:nvPr/>
        </p:nvCxnSpPr>
        <p:spPr>
          <a:xfrm flipH="1" rot="10800000">
            <a:off x="6885432" y="1901124"/>
            <a:ext cx="71700" cy="5400"/>
          </a:xfrm>
          <a:prstGeom prst="straightConnector1">
            <a:avLst/>
          </a:prstGeom>
          <a:noFill/>
          <a:ln cap="flat" cmpd="sng" w="22225">
            <a:solidFill>
              <a:schemeClr val="accent1"/>
            </a:solidFill>
            <a:prstDash val="solid"/>
            <a:round/>
            <a:headEnd len="sm" w="sm" type="none"/>
            <a:tailEnd len="med" w="med" type="triangle"/>
          </a:ln>
        </p:spPr>
      </p:cxnSp>
      <p:cxnSp>
        <p:nvCxnSpPr>
          <p:cNvPr id="203" name="Google Shape;203;p26"/>
          <p:cNvCxnSpPr/>
          <p:nvPr/>
        </p:nvCxnSpPr>
        <p:spPr>
          <a:xfrm>
            <a:off x="7855055" y="1897949"/>
            <a:ext cx="106200" cy="0"/>
          </a:xfrm>
          <a:prstGeom prst="straightConnector1">
            <a:avLst/>
          </a:prstGeom>
          <a:noFill/>
          <a:ln cap="flat" cmpd="sng" w="22225">
            <a:solidFill>
              <a:schemeClr val="accent1"/>
            </a:solidFill>
            <a:prstDash val="solid"/>
            <a:round/>
            <a:headEnd len="sm" w="sm" type="none"/>
            <a:tailEnd len="med" w="med" type="triangle"/>
          </a:ln>
        </p:spPr>
      </p:cxnSp>
      <p:sp>
        <p:nvSpPr>
          <p:cNvPr id="204" name="Google Shape;204;p26"/>
          <p:cNvSpPr txBox="1"/>
          <p:nvPr/>
        </p:nvSpPr>
        <p:spPr>
          <a:xfrm>
            <a:off x="411480" y="3394710"/>
            <a:ext cx="8318754" cy="41148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chemeClr val="accent1"/>
              </a:buClr>
              <a:buSzPts val="2100"/>
              <a:buFont typeface="Calibri"/>
              <a:buNone/>
            </a:pPr>
            <a:r>
              <a:rPr b="1" i="0" lang="en" sz="2100" u="none" cap="none" strike="noStrike">
                <a:solidFill>
                  <a:schemeClr val="accent1"/>
                </a:solidFill>
                <a:latin typeface="Calibri"/>
                <a:ea typeface="Calibri"/>
                <a:cs typeface="Calibri"/>
                <a:sym typeface="Calibri"/>
              </a:rPr>
              <a:t>BASELINE</a:t>
            </a:r>
            <a:r>
              <a:rPr b="0" i="0" lang="en" sz="2100" u="none" cap="none" strike="noStrike">
                <a:solidFill>
                  <a:srgbClr val="94A3B8"/>
                </a:solidFill>
                <a:latin typeface="Calibri"/>
                <a:ea typeface="Calibri"/>
                <a:cs typeface="Calibri"/>
                <a:sym typeface="Calibri"/>
              </a:rPr>
              <a:t>   →   </a:t>
            </a:r>
            <a:r>
              <a:rPr b="1" i="0" lang="en" sz="2100" u="none" cap="none" strike="noStrike">
                <a:solidFill>
                  <a:schemeClr val="accent4"/>
                </a:solidFill>
                <a:latin typeface="Calibri"/>
                <a:ea typeface="Calibri"/>
                <a:cs typeface="Calibri"/>
                <a:sym typeface="Calibri"/>
              </a:rPr>
              <a:t>INJECT</a:t>
            </a:r>
            <a:r>
              <a:rPr b="0" i="0" lang="en" sz="2100" u="none" cap="none" strike="noStrike">
                <a:solidFill>
                  <a:srgbClr val="94A3B8"/>
                </a:solidFill>
                <a:latin typeface="Calibri"/>
                <a:ea typeface="Calibri"/>
                <a:cs typeface="Calibri"/>
                <a:sym typeface="Calibri"/>
              </a:rPr>
              <a:t>   →   </a:t>
            </a:r>
            <a:r>
              <a:rPr b="1" i="0" lang="en" sz="2100" u="none" cap="none" strike="noStrike">
                <a:solidFill>
                  <a:schemeClr val="accent3"/>
                </a:solidFill>
                <a:latin typeface="Calibri"/>
                <a:ea typeface="Calibri"/>
                <a:cs typeface="Calibri"/>
                <a:sym typeface="Calibri"/>
              </a:rPr>
              <a:t>DETECT</a:t>
            </a:r>
            <a:endParaRPr sz="1100"/>
          </a:p>
        </p:txBody>
      </p:sp>
      <p:sp>
        <p:nvSpPr>
          <p:cNvPr id="205" name="Google Shape;205;p26"/>
          <p:cNvSpPr txBox="1"/>
          <p:nvPr/>
        </p:nvSpPr>
        <p:spPr>
          <a:xfrm>
            <a:off x="411480" y="3840480"/>
            <a:ext cx="8318754" cy="24003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rgbClr val="F1F5F9"/>
              </a:buClr>
              <a:buSzPts val="1200"/>
              <a:buFont typeface="Calibri"/>
              <a:buNone/>
            </a:pPr>
            <a:r>
              <a:rPr b="0" i="0" lang="en" sz="1200" u="none" cap="none" strike="noStrike">
                <a:solidFill>
                  <a:srgbClr val="F1F5F9"/>
                </a:solidFill>
                <a:latin typeface="Calibri"/>
                <a:ea typeface="Calibri"/>
                <a:cs typeface="Calibri"/>
                <a:sym typeface="Calibri"/>
              </a:rPr>
              <a:t>Synthetic patients. Simulated streams. Controlled failures.</a:t>
            </a:r>
            <a:endParaRPr sz="1100"/>
          </a:p>
        </p:txBody>
      </p:sp>
      <p:sp>
        <p:nvSpPr>
          <p:cNvPr id="206" name="Google Shape;206;p26"/>
          <p:cNvSpPr txBox="1"/>
          <p:nvPr/>
        </p:nvSpPr>
        <p:spPr>
          <a:xfrm>
            <a:off x="411480" y="4251960"/>
            <a:ext cx="754380" cy="274320"/>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rgbClr val="94A3B8"/>
              </a:buClr>
              <a:buSzPts val="800"/>
              <a:buFont typeface="Calibri"/>
              <a:buNone/>
            </a:pPr>
            <a:r>
              <a:rPr b="1" i="0" lang="en" sz="800" u="none" cap="none" strike="noStrike">
                <a:solidFill>
                  <a:srgbClr val="94A3B8"/>
                </a:solidFill>
                <a:latin typeface="Calibri"/>
                <a:ea typeface="Calibri"/>
                <a:cs typeface="Calibri"/>
                <a:sym typeface="Calibri"/>
              </a:rPr>
              <a:t>BUILT WITH</a:t>
            </a:r>
            <a:endParaRPr sz="1100"/>
          </a:p>
        </p:txBody>
      </p:sp>
      <p:sp>
        <p:nvSpPr>
          <p:cNvPr id="207" name="Google Shape;207;p26"/>
          <p:cNvSpPr/>
          <p:nvPr/>
        </p:nvSpPr>
        <p:spPr>
          <a:xfrm>
            <a:off x="1131570" y="4217670"/>
            <a:ext cx="342900" cy="342900"/>
          </a:xfrm>
          <a:prstGeom prst="roundRect">
            <a:avLst>
              <a:gd fmla="val 12000" name="adj"/>
            </a:avLst>
          </a:prstGeom>
          <a:solidFill>
            <a:srgbClr val="FFFF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docker_whale.png" id="208" name="Google Shape;208;p26"/>
          <p:cNvPicPr preferRelativeResize="0"/>
          <p:nvPr/>
        </p:nvPicPr>
        <p:blipFill rotWithShape="1">
          <a:blip r:embed="rId11">
            <a:alphaModFix/>
          </a:blip>
          <a:srcRect b="0" l="0" r="0" t="0"/>
          <a:stretch/>
        </p:blipFill>
        <p:spPr>
          <a:xfrm>
            <a:off x="1172718" y="4258818"/>
            <a:ext cx="260604" cy="260604"/>
          </a:xfrm>
          <a:prstGeom prst="rect">
            <a:avLst/>
          </a:prstGeom>
          <a:noFill/>
          <a:ln>
            <a:noFill/>
          </a:ln>
        </p:spPr>
      </p:pic>
      <p:sp>
        <p:nvSpPr>
          <p:cNvPr id="209" name="Google Shape;209;p26"/>
          <p:cNvSpPr txBox="1"/>
          <p:nvPr/>
        </p:nvSpPr>
        <p:spPr>
          <a:xfrm>
            <a:off x="3566160" y="4251960"/>
            <a:ext cx="5164074" cy="274320"/>
          </a:xfrm>
          <a:prstGeom prst="rect">
            <a:avLst/>
          </a:prstGeom>
          <a:noFill/>
          <a:ln>
            <a:noFill/>
          </a:ln>
        </p:spPr>
        <p:txBody>
          <a:bodyPr anchorCtr="0" anchor="ctr" bIns="20575" lIns="0" spcFirstLastPara="1" rIns="0" wrap="square" tIns="20575">
            <a:spAutoFit/>
          </a:bodyPr>
          <a:lstStyle/>
          <a:p>
            <a:pPr indent="0" lvl="0" marL="0" marR="0" rtl="0" algn="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Walonoski et al., JAMIA 2018 (Synthea)  ·  Mandel et al., JAMIA 2016 (FHIR)</a:t>
            </a:r>
            <a:endParaRPr sz="1100"/>
          </a:p>
        </p:txBody>
      </p:sp>
      <p:cxnSp>
        <p:nvCxnSpPr>
          <p:cNvPr id="210" name="Google Shape;210;p26"/>
          <p:cNvCxnSpPr/>
          <p:nvPr/>
        </p:nvCxnSpPr>
        <p:spPr>
          <a:xfrm flipH="1" rot="10800000">
            <a:off x="5686975" y="4495332"/>
            <a:ext cx="3043200" cy="5700"/>
          </a:xfrm>
          <a:prstGeom prst="straightConnector1">
            <a:avLst/>
          </a:prstGeom>
          <a:noFill/>
          <a:ln cap="flat" cmpd="sng" w="28575">
            <a:solidFill>
              <a:schemeClr val="accent5"/>
            </a:solidFill>
            <a:prstDash val="solid"/>
            <a:round/>
            <a:headEnd len="med" w="med" type="none"/>
            <a:tailEnd len="med" w="med" type="none"/>
          </a:ln>
        </p:spPr>
      </p:cxnSp>
      <p:pic>
        <p:nvPicPr>
          <p:cNvPr id="211" name="Google Shape;211;p26" title="google-cloud.jpg"/>
          <p:cNvPicPr preferRelativeResize="0"/>
          <p:nvPr/>
        </p:nvPicPr>
        <p:blipFill>
          <a:blip r:embed="rId12">
            <a:alphaModFix/>
          </a:blip>
          <a:stretch>
            <a:fillRect/>
          </a:stretch>
        </p:blipFill>
        <p:spPr>
          <a:xfrm>
            <a:off x="3300387" y="1628737"/>
            <a:ext cx="548700" cy="548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300"/>
                                        <p:tgtEl>
                                          <p:spTgt spid="21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1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411480" y="548639"/>
            <a:ext cx="8318754" cy="582931"/>
          </a:xfrm>
          <a:prstGeom prst="rect">
            <a:avLst/>
          </a:prstGeom>
          <a:noFill/>
          <a:ln>
            <a:noFill/>
          </a:ln>
        </p:spPr>
        <p:txBody>
          <a:bodyPr anchorCtr="0" anchor="t" bIns="34275" lIns="34275" spcFirstLastPara="1" rIns="34275" wrap="square" tIns="34275">
            <a:normAutofit/>
          </a:bodyPr>
          <a:lstStyle/>
          <a:p>
            <a:pPr indent="0" lvl="0" marL="0" rtl="0" algn="l">
              <a:lnSpc>
                <a:spcPct val="100000"/>
              </a:lnSpc>
              <a:spcBef>
                <a:spcPts val="0"/>
              </a:spcBef>
              <a:spcAft>
                <a:spcPts val="0"/>
              </a:spcAft>
              <a:buClr>
                <a:srgbClr val="F1F5F9"/>
              </a:buClr>
              <a:buSzPts val="2400"/>
              <a:buFont typeface="Calibri"/>
              <a:buNone/>
            </a:pPr>
            <a:r>
              <a:rPr b="1" lang="en" sz="2400">
                <a:solidFill>
                  <a:srgbClr val="F1F5F9"/>
                </a:solidFill>
              </a:rPr>
              <a:t>Suggested Database Structure</a:t>
            </a:r>
            <a:endParaRPr/>
          </a:p>
        </p:txBody>
      </p:sp>
      <p:sp>
        <p:nvSpPr>
          <p:cNvPr id="217" name="Google Shape;217;p27"/>
          <p:cNvSpPr/>
          <p:nvPr/>
        </p:nvSpPr>
        <p:spPr>
          <a:xfrm>
            <a:off x="3360420" y="1200150"/>
            <a:ext cx="2400300" cy="754380"/>
          </a:xfrm>
          <a:prstGeom prst="roundRect">
            <a:avLst>
              <a:gd fmla="val 4000" name="adj"/>
            </a:avLst>
          </a:prstGeom>
          <a:solidFill>
            <a:srgbClr val="101D2E"/>
          </a:solidFill>
          <a:ln cap="flat" cmpd="sng" w="222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18" name="Google Shape;218;p27"/>
          <p:cNvSpPr txBox="1"/>
          <p:nvPr/>
        </p:nvSpPr>
        <p:spPr>
          <a:xfrm>
            <a:off x="3497580" y="1255014"/>
            <a:ext cx="2125980" cy="219456"/>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1"/>
              </a:buClr>
              <a:buSzPts val="1100"/>
              <a:buFont typeface="Calibri"/>
              <a:buNone/>
            </a:pPr>
            <a:r>
              <a:rPr b="1" i="0" lang="en" sz="1100" u="none" cap="none" strike="noStrike">
                <a:solidFill>
                  <a:schemeClr val="accent1"/>
                </a:solidFill>
                <a:latin typeface="Calibri"/>
                <a:ea typeface="Calibri"/>
                <a:cs typeface="Calibri"/>
                <a:sym typeface="Calibri"/>
              </a:rPr>
              <a:t>resources</a:t>
            </a:r>
            <a:endParaRPr sz="1100"/>
          </a:p>
        </p:txBody>
      </p:sp>
      <p:sp>
        <p:nvSpPr>
          <p:cNvPr id="219" name="Google Shape;219;p27"/>
          <p:cNvSpPr txBox="1"/>
          <p:nvPr/>
        </p:nvSpPr>
        <p:spPr>
          <a:xfrm>
            <a:off x="3497580" y="1543050"/>
            <a:ext cx="2125980" cy="342900"/>
          </a:xfrm>
          <a:prstGeom prst="rect">
            <a:avLst/>
          </a:prstGeom>
          <a:noFill/>
          <a:ln>
            <a:noFill/>
          </a:ln>
        </p:spPr>
        <p:txBody>
          <a:bodyPr anchorCtr="0" anchor="t" bIns="20575" lIns="0" spcFirstLastPara="1" rIns="0" wrap="square" tIns="20575">
            <a:spAutoFit/>
          </a:bodyPr>
          <a:lstStyle/>
          <a:p>
            <a:pPr indent="0" lvl="0" marL="0" marR="0" rtl="0" algn="l">
              <a:lnSpc>
                <a:spcPct val="100000"/>
              </a:lnSpc>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PK  </a:t>
            </a:r>
            <a:r>
              <a:rPr b="0" i="0" lang="en" sz="900" u="none" cap="none" strike="noStrike">
                <a:solidFill>
                  <a:srgbClr val="F1F5F9"/>
                </a:solidFill>
                <a:latin typeface="Calibri"/>
                <a:ea typeface="Calibri"/>
                <a:cs typeface="Calibri"/>
                <a:sym typeface="Calibri"/>
              </a:rPr>
              <a:t>resource_id</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resource_type</a:t>
            </a:r>
            <a:endParaRPr sz="1100"/>
          </a:p>
        </p:txBody>
      </p:sp>
      <p:sp>
        <p:nvSpPr>
          <p:cNvPr id="220" name="Google Shape;220;p27"/>
          <p:cNvSpPr/>
          <p:nvPr/>
        </p:nvSpPr>
        <p:spPr>
          <a:xfrm>
            <a:off x="411480" y="2160270"/>
            <a:ext cx="2537460" cy="2125980"/>
          </a:xfrm>
          <a:prstGeom prst="roundRect">
            <a:avLst>
              <a:gd fmla="val 4000" name="adj"/>
            </a:avLst>
          </a:prstGeom>
          <a:solidFill>
            <a:srgbClr val="101D2E"/>
          </a:solidFill>
          <a:ln cap="flat" cmpd="sng" w="222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21" name="Google Shape;221;p27"/>
          <p:cNvSpPr txBox="1"/>
          <p:nvPr/>
        </p:nvSpPr>
        <p:spPr>
          <a:xfrm>
            <a:off x="548640" y="2215134"/>
            <a:ext cx="2263140" cy="219456"/>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1"/>
              </a:buClr>
              <a:buSzPts val="1100"/>
              <a:buFont typeface="Calibri"/>
              <a:buNone/>
            </a:pPr>
            <a:r>
              <a:rPr b="1" i="0" lang="en" sz="1100" u="none" cap="none" strike="noStrike">
                <a:solidFill>
                  <a:schemeClr val="accent1"/>
                </a:solidFill>
                <a:latin typeface="Calibri"/>
                <a:ea typeface="Calibri"/>
                <a:cs typeface="Calibri"/>
                <a:sym typeface="Calibri"/>
              </a:rPr>
              <a:t>quality_metrics</a:t>
            </a:r>
            <a:endParaRPr sz="1100"/>
          </a:p>
        </p:txBody>
      </p:sp>
      <p:sp>
        <p:nvSpPr>
          <p:cNvPr id="222" name="Google Shape;222;p27"/>
          <p:cNvSpPr txBox="1"/>
          <p:nvPr/>
        </p:nvSpPr>
        <p:spPr>
          <a:xfrm>
            <a:off x="548640" y="2503170"/>
            <a:ext cx="2263140" cy="1714500"/>
          </a:xfrm>
          <a:prstGeom prst="rect">
            <a:avLst/>
          </a:prstGeom>
          <a:noFill/>
          <a:ln>
            <a:noFill/>
          </a:ln>
        </p:spPr>
        <p:txBody>
          <a:bodyPr anchorCtr="0" anchor="t" bIns="20575" lIns="0" spcFirstLastPara="1" rIns="0" wrap="square" tIns="20575">
            <a:spAutoFit/>
          </a:bodyPr>
          <a:lstStyle/>
          <a:p>
            <a:pPr indent="0" lvl="0" marL="0" marR="0" rtl="0" algn="l">
              <a:lnSpc>
                <a:spcPct val="100000"/>
              </a:lnSpc>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PK  </a:t>
            </a:r>
            <a:r>
              <a:rPr b="0" i="0" lang="en" sz="900" u="none" cap="none" strike="noStrike">
                <a:solidFill>
                  <a:srgbClr val="F1F5F9"/>
                </a:solidFill>
                <a:latin typeface="Calibri"/>
                <a:ea typeface="Calibri"/>
                <a:cs typeface="Calibri"/>
                <a:sym typeface="Calibri"/>
              </a:rPr>
              <a:t>metric_id</a:t>
            </a:r>
            <a:endParaRPr sz="1100"/>
          </a:p>
          <a:p>
            <a:pPr indent="0" lvl="0" marL="0" marR="0" rtl="0" algn="l">
              <a:lnSpc>
                <a:spcPct val="100000"/>
              </a:lnSpc>
              <a:spcBef>
                <a:spcPts val="10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FK  </a:t>
            </a:r>
            <a:r>
              <a:rPr b="0" i="0" lang="en" sz="900" u="none" cap="none" strike="noStrike">
                <a:solidFill>
                  <a:srgbClr val="F1F5F9"/>
                </a:solidFill>
                <a:latin typeface="Calibri"/>
                <a:ea typeface="Calibri"/>
                <a:cs typeface="Calibri"/>
                <a:sym typeface="Calibri"/>
              </a:rPr>
              <a:t>resource_id</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field_name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metric_name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metric_value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window_start</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window_end</a:t>
            </a:r>
            <a:endParaRPr sz="1100"/>
          </a:p>
        </p:txBody>
      </p:sp>
      <p:sp>
        <p:nvSpPr>
          <p:cNvPr id="223" name="Google Shape;223;p27"/>
          <p:cNvSpPr/>
          <p:nvPr/>
        </p:nvSpPr>
        <p:spPr>
          <a:xfrm>
            <a:off x="3302127" y="2160270"/>
            <a:ext cx="2537460" cy="2125980"/>
          </a:xfrm>
          <a:prstGeom prst="roundRect">
            <a:avLst>
              <a:gd fmla="val 4000" name="adj"/>
            </a:avLst>
          </a:prstGeom>
          <a:solidFill>
            <a:srgbClr val="101D2E"/>
          </a:solidFill>
          <a:ln cap="flat" cmpd="sng" w="22225">
            <a:solidFill>
              <a:schemeClr val="accent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24" name="Google Shape;224;p27"/>
          <p:cNvSpPr txBox="1"/>
          <p:nvPr/>
        </p:nvSpPr>
        <p:spPr>
          <a:xfrm>
            <a:off x="3439287" y="2215134"/>
            <a:ext cx="2263140" cy="219456"/>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1"/>
              </a:buClr>
              <a:buSzPts val="1100"/>
              <a:buFont typeface="Calibri"/>
              <a:buNone/>
            </a:pPr>
            <a:r>
              <a:rPr b="1" i="0" lang="en" sz="1100" u="none" cap="none" strike="noStrike">
                <a:solidFill>
                  <a:schemeClr val="accent1"/>
                </a:solidFill>
                <a:latin typeface="Calibri"/>
                <a:ea typeface="Calibri"/>
                <a:cs typeface="Calibri"/>
                <a:sym typeface="Calibri"/>
              </a:rPr>
              <a:t>schema_history</a:t>
            </a:r>
            <a:endParaRPr sz="1100"/>
          </a:p>
        </p:txBody>
      </p:sp>
      <p:sp>
        <p:nvSpPr>
          <p:cNvPr id="225" name="Google Shape;225;p27"/>
          <p:cNvSpPr txBox="1"/>
          <p:nvPr/>
        </p:nvSpPr>
        <p:spPr>
          <a:xfrm>
            <a:off x="3439287" y="2503170"/>
            <a:ext cx="2263140" cy="1714500"/>
          </a:xfrm>
          <a:prstGeom prst="rect">
            <a:avLst/>
          </a:prstGeom>
          <a:noFill/>
          <a:ln>
            <a:noFill/>
          </a:ln>
        </p:spPr>
        <p:txBody>
          <a:bodyPr anchorCtr="0" anchor="t" bIns="20575" lIns="0" spcFirstLastPara="1" rIns="0" wrap="square" tIns="20575">
            <a:spAutoFit/>
          </a:bodyPr>
          <a:lstStyle/>
          <a:p>
            <a:pPr indent="0" lvl="0" marL="0" marR="0" rtl="0" algn="l">
              <a:lnSpc>
                <a:spcPct val="100000"/>
              </a:lnSpc>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PK  </a:t>
            </a:r>
            <a:r>
              <a:rPr b="0" i="0" lang="en" sz="900" u="none" cap="none" strike="noStrike">
                <a:solidFill>
                  <a:srgbClr val="F1F5F9"/>
                </a:solidFill>
                <a:latin typeface="Calibri"/>
                <a:ea typeface="Calibri"/>
                <a:cs typeface="Calibri"/>
                <a:sym typeface="Calibri"/>
              </a:rPr>
              <a:t>schema_id</a:t>
            </a:r>
            <a:endParaRPr sz="1100"/>
          </a:p>
          <a:p>
            <a:pPr indent="0" lvl="0" marL="0" marR="0" rtl="0" algn="l">
              <a:lnSpc>
                <a:spcPct val="100000"/>
              </a:lnSpc>
              <a:spcBef>
                <a:spcPts val="10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FK  </a:t>
            </a:r>
            <a:r>
              <a:rPr b="0" i="0" lang="en" sz="900" u="none" cap="none" strike="noStrike">
                <a:solidFill>
                  <a:srgbClr val="F1F5F9"/>
                </a:solidFill>
                <a:latin typeface="Calibri"/>
                <a:ea typeface="Calibri"/>
                <a:cs typeface="Calibri"/>
                <a:sym typeface="Calibri"/>
              </a:rPr>
              <a:t>resource_id</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schema_version</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schema_definition  JSONB</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detected_at</a:t>
            </a:r>
            <a:endParaRPr sz="1100"/>
          </a:p>
        </p:txBody>
      </p:sp>
      <p:sp>
        <p:nvSpPr>
          <p:cNvPr id="226" name="Google Shape;226;p27"/>
          <p:cNvSpPr/>
          <p:nvPr/>
        </p:nvSpPr>
        <p:spPr>
          <a:xfrm>
            <a:off x="6192773" y="2160270"/>
            <a:ext cx="2537460" cy="2125980"/>
          </a:xfrm>
          <a:prstGeom prst="roundRect">
            <a:avLst>
              <a:gd fmla="val 4000" name="adj"/>
            </a:avLst>
          </a:prstGeom>
          <a:solidFill>
            <a:srgbClr val="101D2E"/>
          </a:solidFill>
          <a:ln cap="flat" cmpd="sng" w="2222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27" name="Google Shape;227;p27"/>
          <p:cNvSpPr txBox="1"/>
          <p:nvPr/>
        </p:nvSpPr>
        <p:spPr>
          <a:xfrm>
            <a:off x="6329933" y="2215134"/>
            <a:ext cx="2263140" cy="219456"/>
          </a:xfrm>
          <a:prstGeom prst="rect">
            <a:avLst/>
          </a:prstGeom>
          <a:noFill/>
          <a:ln>
            <a:noFill/>
          </a:ln>
        </p:spPr>
        <p:txBody>
          <a:bodyPr anchorCtr="0" anchor="ctr" bIns="20575" lIns="0" spcFirstLastPara="1" rIns="0" wrap="square" tIns="20575">
            <a:spAutoFit/>
          </a:bodyPr>
          <a:lstStyle/>
          <a:p>
            <a:pPr indent="0" lvl="0" marL="0" marR="0" rtl="0" algn="l">
              <a:lnSpc>
                <a:spcPct val="100000"/>
              </a:lnSpc>
              <a:spcBef>
                <a:spcPts val="0"/>
              </a:spcBef>
              <a:spcAft>
                <a:spcPts val="0"/>
              </a:spcAft>
              <a:buClr>
                <a:schemeClr val="accent4"/>
              </a:buClr>
              <a:buSzPts val="1100"/>
              <a:buFont typeface="Calibri"/>
              <a:buNone/>
            </a:pPr>
            <a:r>
              <a:rPr b="1" i="0" lang="en" sz="1100" u="none" cap="none" strike="noStrike">
                <a:solidFill>
                  <a:schemeClr val="accent4"/>
                </a:solidFill>
                <a:latin typeface="Calibri"/>
                <a:ea typeface="Calibri"/>
                <a:cs typeface="Calibri"/>
                <a:sym typeface="Calibri"/>
              </a:rPr>
              <a:t>incidents</a:t>
            </a:r>
            <a:endParaRPr sz="1100"/>
          </a:p>
        </p:txBody>
      </p:sp>
      <p:sp>
        <p:nvSpPr>
          <p:cNvPr id="228" name="Google Shape;228;p27"/>
          <p:cNvSpPr txBox="1"/>
          <p:nvPr/>
        </p:nvSpPr>
        <p:spPr>
          <a:xfrm>
            <a:off x="6329933" y="2503170"/>
            <a:ext cx="2263140" cy="1714500"/>
          </a:xfrm>
          <a:prstGeom prst="rect">
            <a:avLst/>
          </a:prstGeom>
          <a:noFill/>
          <a:ln>
            <a:noFill/>
          </a:ln>
        </p:spPr>
        <p:txBody>
          <a:bodyPr anchorCtr="0" anchor="t" bIns="20575" lIns="0" spcFirstLastPara="1" rIns="0" wrap="square" tIns="20575">
            <a:spAutoFit/>
          </a:bodyPr>
          <a:lstStyle/>
          <a:p>
            <a:pPr indent="0" lvl="0" marL="0" marR="0" rtl="0" algn="l">
              <a:lnSpc>
                <a:spcPct val="100000"/>
              </a:lnSpc>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PK  </a:t>
            </a:r>
            <a:r>
              <a:rPr b="0" i="0" lang="en" sz="900" u="none" cap="none" strike="noStrike">
                <a:solidFill>
                  <a:srgbClr val="F1F5F9"/>
                </a:solidFill>
                <a:latin typeface="Calibri"/>
                <a:ea typeface="Calibri"/>
                <a:cs typeface="Calibri"/>
                <a:sym typeface="Calibri"/>
              </a:rPr>
              <a:t>incident_id</a:t>
            </a:r>
            <a:endParaRPr sz="1100"/>
          </a:p>
          <a:p>
            <a:pPr indent="0" lvl="0" marL="0" marR="0" rtl="0" algn="l">
              <a:lnSpc>
                <a:spcPct val="100000"/>
              </a:lnSpc>
              <a:spcBef>
                <a:spcPts val="10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FK  </a:t>
            </a:r>
            <a:r>
              <a:rPr b="0" i="0" lang="en" sz="900" u="none" cap="none" strike="noStrike">
                <a:solidFill>
                  <a:srgbClr val="F1F5F9"/>
                </a:solidFill>
                <a:latin typeface="Calibri"/>
                <a:ea typeface="Calibri"/>
                <a:cs typeface="Calibri"/>
                <a:sym typeface="Calibri"/>
              </a:rPr>
              <a:t>resource_id</a:t>
            </a:r>
            <a:endParaRPr sz="1100"/>
          </a:p>
          <a:p>
            <a:pPr indent="0" lvl="0" marL="0" marR="0" rtl="0" algn="l">
              <a:lnSpc>
                <a:spcPct val="100000"/>
              </a:lnSpc>
              <a:spcBef>
                <a:spcPts val="10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FK  </a:t>
            </a:r>
            <a:r>
              <a:rPr b="0" i="0" lang="en" sz="900" u="none" cap="none" strike="noStrike">
                <a:solidFill>
                  <a:srgbClr val="F1F5F9"/>
                </a:solidFill>
                <a:latin typeface="Calibri"/>
                <a:ea typeface="Calibri"/>
                <a:cs typeface="Calibri"/>
                <a:sym typeface="Calibri"/>
              </a:rPr>
              <a:t>metric_id   NULL</a:t>
            </a:r>
            <a:endParaRPr sz="1100"/>
          </a:p>
          <a:p>
            <a:pPr indent="0" lvl="0" marL="0" marR="0" rtl="0" algn="l">
              <a:lnSpc>
                <a:spcPct val="100000"/>
              </a:lnSpc>
              <a:spcBef>
                <a:spcPts val="100"/>
              </a:spcBef>
              <a:spcAft>
                <a:spcPts val="0"/>
              </a:spcAft>
              <a:buClr>
                <a:schemeClr val="accent2"/>
              </a:buClr>
              <a:buSzPts val="800"/>
              <a:buFont typeface="Calibri"/>
              <a:buNone/>
            </a:pPr>
            <a:r>
              <a:rPr b="1" i="0" lang="en" sz="800" u="none" cap="none" strike="noStrike">
                <a:solidFill>
                  <a:schemeClr val="accent2"/>
                </a:solidFill>
                <a:latin typeface="Calibri"/>
                <a:ea typeface="Calibri"/>
                <a:cs typeface="Calibri"/>
                <a:sym typeface="Calibri"/>
              </a:rPr>
              <a:t>FK  </a:t>
            </a:r>
            <a:r>
              <a:rPr b="0" i="0" lang="en" sz="900" u="none" cap="none" strike="noStrike">
                <a:solidFill>
                  <a:srgbClr val="F1F5F9"/>
                </a:solidFill>
                <a:latin typeface="Calibri"/>
                <a:ea typeface="Calibri"/>
                <a:cs typeface="Calibri"/>
                <a:sym typeface="Calibri"/>
              </a:rPr>
              <a:t>schema_id   NULL</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field_name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incident_type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severity</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baseline_value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current_value</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detected_at</a:t>
            </a:r>
            <a:endParaRPr sz="1100"/>
          </a:p>
          <a:p>
            <a:pPr indent="0" lvl="0" marL="0" marR="0" rtl="0" algn="l">
              <a:lnSpc>
                <a:spcPct val="100000"/>
              </a:lnSpc>
              <a:spcBef>
                <a:spcPts val="100"/>
              </a:spcBef>
              <a:spcAft>
                <a:spcPts val="0"/>
              </a:spcAft>
              <a:buClr>
                <a:srgbClr val="F1F5F9"/>
              </a:buClr>
              <a:buSzPts val="800"/>
              <a:buFont typeface="Calibri"/>
              <a:buNone/>
            </a:pPr>
            <a:r>
              <a:rPr b="1" i="0" lang="en" sz="800" u="none" cap="none" strike="noStrike">
                <a:solidFill>
                  <a:srgbClr val="F1F5F9"/>
                </a:solidFill>
                <a:latin typeface="Calibri"/>
                <a:ea typeface="Calibri"/>
                <a:cs typeface="Calibri"/>
                <a:sym typeface="Calibri"/>
              </a:rPr>
              <a:t>      </a:t>
            </a:r>
            <a:r>
              <a:rPr b="0" i="0" lang="en" sz="900" u="none" cap="none" strike="noStrike">
                <a:solidFill>
                  <a:srgbClr val="F1F5F9"/>
                </a:solidFill>
                <a:latin typeface="Calibri"/>
                <a:ea typeface="Calibri"/>
                <a:cs typeface="Calibri"/>
                <a:sym typeface="Calibri"/>
              </a:rPr>
              <a:t>status</a:t>
            </a:r>
            <a:endParaRPr sz="1100"/>
          </a:p>
        </p:txBody>
      </p:sp>
      <p:cxnSp>
        <p:nvCxnSpPr>
          <p:cNvPr id="229" name="Google Shape;229;p27"/>
          <p:cNvCxnSpPr/>
          <p:nvPr/>
        </p:nvCxnSpPr>
        <p:spPr>
          <a:xfrm flipH="1">
            <a:off x="1680210" y="1975104"/>
            <a:ext cx="2880360" cy="164592"/>
          </a:xfrm>
          <a:prstGeom prst="straightConnector1">
            <a:avLst/>
          </a:prstGeom>
          <a:noFill/>
          <a:ln cap="flat" cmpd="sng" w="19050">
            <a:solidFill>
              <a:schemeClr val="accent1"/>
            </a:solidFill>
            <a:prstDash val="solid"/>
            <a:round/>
            <a:headEnd len="sm" w="sm" type="none"/>
            <a:tailEnd len="med" w="med" type="triangle"/>
          </a:ln>
        </p:spPr>
      </p:cxnSp>
      <p:cxnSp>
        <p:nvCxnSpPr>
          <p:cNvPr id="230" name="Google Shape;230;p27"/>
          <p:cNvCxnSpPr/>
          <p:nvPr/>
        </p:nvCxnSpPr>
        <p:spPr>
          <a:xfrm>
            <a:off x="4560570" y="1975104"/>
            <a:ext cx="10286" cy="164592"/>
          </a:xfrm>
          <a:prstGeom prst="straightConnector1">
            <a:avLst/>
          </a:prstGeom>
          <a:noFill/>
          <a:ln cap="flat" cmpd="sng" w="19050">
            <a:solidFill>
              <a:schemeClr val="accent1"/>
            </a:solidFill>
            <a:prstDash val="solid"/>
            <a:round/>
            <a:headEnd len="sm" w="sm" type="none"/>
            <a:tailEnd len="med" w="med" type="triangle"/>
          </a:ln>
        </p:spPr>
      </p:cxnSp>
      <p:cxnSp>
        <p:nvCxnSpPr>
          <p:cNvPr id="231" name="Google Shape;231;p27"/>
          <p:cNvCxnSpPr/>
          <p:nvPr/>
        </p:nvCxnSpPr>
        <p:spPr>
          <a:xfrm>
            <a:off x="4560570" y="1975104"/>
            <a:ext cx="2900934" cy="164592"/>
          </a:xfrm>
          <a:prstGeom prst="straightConnector1">
            <a:avLst/>
          </a:prstGeom>
          <a:noFill/>
          <a:ln cap="flat" cmpd="sng" w="19050">
            <a:solidFill>
              <a:schemeClr val="accent1"/>
            </a:solidFill>
            <a:prstDash val="solid"/>
            <a:round/>
            <a:headEnd len="sm" w="sm" type="none"/>
            <a:tailEnd len="med" w="med" type="triangle"/>
          </a:ln>
        </p:spPr>
      </p:cxnSp>
      <p:sp>
        <p:nvSpPr>
          <p:cNvPr id="232" name="Google Shape;232;p27"/>
          <p:cNvSpPr txBox="1"/>
          <p:nvPr/>
        </p:nvSpPr>
        <p:spPr>
          <a:xfrm>
            <a:off x="2331720" y="1769364"/>
            <a:ext cx="617220" cy="17145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rgbClr val="94A3B8"/>
              </a:buClr>
              <a:buSzPts val="800"/>
              <a:buFont typeface="Calibri"/>
              <a:buNone/>
            </a:pPr>
            <a:r>
              <a:rPr b="1" i="0" lang="en" sz="800" u="none" cap="none" strike="noStrike">
                <a:solidFill>
                  <a:srgbClr val="94A3B8"/>
                </a:solidFill>
                <a:latin typeface="Calibri"/>
                <a:ea typeface="Calibri"/>
                <a:cs typeface="Calibri"/>
                <a:sym typeface="Calibri"/>
              </a:rPr>
              <a:t>1 : N</a:t>
            </a:r>
            <a:endParaRPr sz="1100"/>
          </a:p>
        </p:txBody>
      </p:sp>
      <p:cxnSp>
        <p:nvCxnSpPr>
          <p:cNvPr id="233" name="Google Shape;233;p27"/>
          <p:cNvCxnSpPr/>
          <p:nvPr/>
        </p:nvCxnSpPr>
        <p:spPr>
          <a:xfrm>
            <a:off x="5860161" y="3154680"/>
            <a:ext cx="312039" cy="0"/>
          </a:xfrm>
          <a:prstGeom prst="straightConnector1">
            <a:avLst/>
          </a:prstGeom>
          <a:noFill/>
          <a:ln cap="flat" cmpd="sng" w="19050">
            <a:solidFill>
              <a:schemeClr val="accent4"/>
            </a:solidFill>
            <a:prstDash val="dash"/>
            <a:round/>
            <a:headEnd len="sm" w="sm" type="none"/>
            <a:tailEnd len="med" w="med" type="triangle"/>
          </a:ln>
        </p:spPr>
      </p:cxnSp>
      <p:cxnSp>
        <p:nvCxnSpPr>
          <p:cNvPr id="234" name="Google Shape;234;p27"/>
          <p:cNvCxnSpPr/>
          <p:nvPr/>
        </p:nvCxnSpPr>
        <p:spPr>
          <a:xfrm>
            <a:off x="1680210" y="4299966"/>
            <a:ext cx="0" cy="157734"/>
          </a:xfrm>
          <a:prstGeom prst="straightConnector1">
            <a:avLst/>
          </a:prstGeom>
          <a:noFill/>
          <a:ln cap="flat" cmpd="sng" w="19050">
            <a:solidFill>
              <a:schemeClr val="accent4"/>
            </a:solidFill>
            <a:prstDash val="dash"/>
            <a:round/>
            <a:headEnd len="sm" w="sm" type="none"/>
            <a:tailEnd len="sm" w="sm" type="none"/>
          </a:ln>
        </p:spPr>
      </p:cxnSp>
      <p:cxnSp>
        <p:nvCxnSpPr>
          <p:cNvPr id="235" name="Google Shape;235;p27"/>
          <p:cNvCxnSpPr/>
          <p:nvPr/>
        </p:nvCxnSpPr>
        <p:spPr>
          <a:xfrm>
            <a:off x="1680210" y="4457700"/>
            <a:ext cx="5781294" cy="0"/>
          </a:xfrm>
          <a:prstGeom prst="straightConnector1">
            <a:avLst/>
          </a:prstGeom>
          <a:noFill/>
          <a:ln cap="flat" cmpd="sng" w="19050">
            <a:solidFill>
              <a:schemeClr val="accent4"/>
            </a:solidFill>
            <a:prstDash val="dash"/>
            <a:round/>
            <a:headEnd len="sm" w="sm" type="none"/>
            <a:tailEnd len="sm" w="sm" type="none"/>
          </a:ln>
        </p:spPr>
      </p:cxnSp>
      <p:cxnSp>
        <p:nvCxnSpPr>
          <p:cNvPr id="236" name="Google Shape;236;p27"/>
          <p:cNvCxnSpPr/>
          <p:nvPr/>
        </p:nvCxnSpPr>
        <p:spPr>
          <a:xfrm rot="10800000">
            <a:off x="7461504" y="4306824"/>
            <a:ext cx="0" cy="150876"/>
          </a:xfrm>
          <a:prstGeom prst="straightConnector1">
            <a:avLst/>
          </a:prstGeom>
          <a:noFill/>
          <a:ln cap="flat" cmpd="sng" w="19050">
            <a:solidFill>
              <a:schemeClr val="accent4"/>
            </a:solidFill>
            <a:prstDash val="dash"/>
            <a:round/>
            <a:headEnd len="sm" w="sm" type="none"/>
            <a:tailEnd len="med" w="med" type="triangle"/>
          </a:ln>
        </p:spPr>
      </p:cxnSp>
      <p:sp>
        <p:nvSpPr>
          <p:cNvPr id="237" name="Google Shape;237;p27"/>
          <p:cNvSpPr txBox="1"/>
          <p:nvPr/>
        </p:nvSpPr>
        <p:spPr>
          <a:xfrm>
            <a:off x="3017520" y="4471416"/>
            <a:ext cx="3086100" cy="171450"/>
          </a:xfrm>
          <a:prstGeom prst="rect">
            <a:avLst/>
          </a:prstGeom>
          <a:noFill/>
          <a:ln>
            <a:noFill/>
          </a:ln>
        </p:spPr>
        <p:txBody>
          <a:bodyPr anchorCtr="0" anchor="ctr" bIns="20575" lIns="0" spcFirstLastPara="1" rIns="0" wrap="square" tIns="20575">
            <a:spAutoFit/>
          </a:bodyPr>
          <a:lstStyle/>
          <a:p>
            <a:pPr indent="0" lvl="0" marL="0" marR="0" rtl="0" algn="ctr">
              <a:lnSpc>
                <a:spcPct val="100000"/>
              </a:lnSpc>
              <a:spcBef>
                <a:spcPts val="0"/>
              </a:spcBef>
              <a:spcAft>
                <a:spcPts val="0"/>
              </a:spcAft>
              <a:buClr>
                <a:schemeClr val="accent4"/>
              </a:buClr>
              <a:buSzPts val="800"/>
              <a:buFont typeface="Calibri"/>
              <a:buNone/>
            </a:pPr>
            <a:r>
              <a:rPr b="0" i="0" lang="en" sz="800" u="none" cap="none" strike="noStrike">
                <a:solidFill>
                  <a:schemeClr val="accent4"/>
                </a:solidFill>
                <a:latin typeface="Calibri"/>
                <a:ea typeface="Calibri"/>
                <a:cs typeface="Calibri"/>
                <a:sym typeface="Calibri"/>
              </a:rPr>
              <a:t>may trigger  (1 : 0..N)</a:t>
            </a:r>
            <a:endParaRPr sz="1100"/>
          </a:p>
        </p:txBody>
      </p:sp>
      <p:sp>
        <p:nvSpPr>
          <p:cNvPr id="238" name="Google Shape;238;p27"/>
          <p:cNvSpPr txBox="1"/>
          <p:nvPr/>
        </p:nvSpPr>
        <p:spPr>
          <a:xfrm>
            <a:off x="5074920" y="1337310"/>
            <a:ext cx="3655314" cy="205740"/>
          </a:xfrm>
          <a:prstGeom prst="rect">
            <a:avLst/>
          </a:prstGeom>
          <a:noFill/>
          <a:ln>
            <a:noFill/>
          </a:ln>
        </p:spPr>
        <p:txBody>
          <a:bodyPr anchorCtr="0" anchor="ctr" bIns="20575" lIns="0" spcFirstLastPara="1" rIns="0" wrap="square" tIns="20575">
            <a:spAutoFit/>
          </a:bodyPr>
          <a:lstStyle/>
          <a:p>
            <a:pPr indent="0" lvl="0" marL="0" marR="0" rtl="0" algn="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PostgreSQL · monitoring state only · suggested design</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type="title"/>
          </p:nvPr>
        </p:nvSpPr>
        <p:spPr>
          <a:xfrm>
            <a:off x="411480" y="548639"/>
            <a:ext cx="8318754" cy="582931"/>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Clr>
                <a:srgbClr val="F1F5F9"/>
              </a:buClr>
              <a:buSzPts val="2400"/>
              <a:buFont typeface="Calibri"/>
              <a:buNone/>
            </a:pPr>
            <a:r>
              <a:rPr b="1" lang="en" sz="2400">
                <a:solidFill>
                  <a:srgbClr val="F1F5F9"/>
                </a:solidFill>
              </a:rPr>
              <a:t>Sentinel Data Health Dashboard</a:t>
            </a:r>
            <a:endParaRPr/>
          </a:p>
        </p:txBody>
      </p:sp>
      <p:sp>
        <p:nvSpPr>
          <p:cNvPr id="244" name="Google Shape;244;p28"/>
          <p:cNvSpPr/>
          <p:nvPr/>
        </p:nvSpPr>
        <p:spPr>
          <a:xfrm>
            <a:off x="411480" y="1268729"/>
            <a:ext cx="8318754" cy="2914651"/>
          </a:xfrm>
          <a:prstGeom prst="roundRect">
            <a:avLst>
              <a:gd fmla="val 1882" name="adj"/>
            </a:avLst>
          </a:prstGeom>
          <a:solidFill>
            <a:srgbClr val="101D2E"/>
          </a:solidFill>
          <a:ln cap="flat" cmpd="sng" w="12700">
            <a:solidFill>
              <a:schemeClr val="accent6"/>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pic>
        <p:nvPicPr>
          <p:cNvPr descr="Image 0" id="245" name="Google Shape;245;p28"/>
          <p:cNvPicPr preferRelativeResize="0"/>
          <p:nvPr/>
        </p:nvPicPr>
        <p:blipFill rotWithShape="1">
          <a:blip r:embed="rId3">
            <a:alphaModFix/>
          </a:blip>
          <a:srcRect b="0" l="0" r="0" t="0"/>
          <a:stretch/>
        </p:blipFill>
        <p:spPr>
          <a:xfrm>
            <a:off x="582930" y="1371600"/>
            <a:ext cx="246889" cy="246889"/>
          </a:xfrm>
          <a:prstGeom prst="rect">
            <a:avLst/>
          </a:prstGeom>
          <a:noFill/>
          <a:ln>
            <a:noFill/>
          </a:ln>
        </p:spPr>
      </p:pic>
      <p:sp>
        <p:nvSpPr>
          <p:cNvPr id="246" name="Google Shape;246;p28"/>
          <p:cNvSpPr txBox="1"/>
          <p:nvPr/>
        </p:nvSpPr>
        <p:spPr>
          <a:xfrm>
            <a:off x="891539" y="1424034"/>
            <a:ext cx="1028701" cy="1420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SENTINEL</a:t>
            </a:r>
            <a:endParaRPr sz="1100"/>
          </a:p>
        </p:txBody>
      </p:sp>
      <p:sp>
        <p:nvSpPr>
          <p:cNvPr id="247" name="Google Shape;247;p28"/>
          <p:cNvSpPr/>
          <p:nvPr/>
        </p:nvSpPr>
        <p:spPr>
          <a:xfrm>
            <a:off x="2194559" y="1371600"/>
            <a:ext cx="1028701" cy="246889"/>
          </a:xfrm>
          <a:prstGeom prst="roundRect">
            <a:avLst>
              <a:gd fmla="val 16667" name="adj"/>
            </a:avLst>
          </a:prstGeom>
          <a:solidFill>
            <a:schemeClr val="accent1">
              <a:alpha val="18039"/>
            </a:schemeClr>
          </a:solidFill>
          <a:ln cap="flat" cmpd="sng" w="12700">
            <a:solidFill>
              <a:schemeClr val="accent1"/>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48" name="Google Shape;248;p28"/>
          <p:cNvSpPr txBox="1"/>
          <p:nvPr/>
        </p:nvSpPr>
        <p:spPr>
          <a:xfrm>
            <a:off x="2194559" y="1432508"/>
            <a:ext cx="1028701" cy="12507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1"/>
              </a:buClr>
              <a:buSzPts val="1000"/>
              <a:buFont typeface="Calibri"/>
              <a:buNone/>
            </a:pPr>
            <a:r>
              <a:rPr b="1" i="0" lang="en" sz="1000" u="none" cap="none" strike="noStrike">
                <a:solidFill>
                  <a:schemeClr val="accent1"/>
                </a:solidFill>
                <a:latin typeface="Calibri"/>
                <a:ea typeface="Calibri"/>
                <a:cs typeface="Calibri"/>
                <a:sym typeface="Calibri"/>
              </a:rPr>
              <a:t>Overview</a:t>
            </a:r>
            <a:endParaRPr sz="1100"/>
          </a:p>
        </p:txBody>
      </p:sp>
      <p:sp>
        <p:nvSpPr>
          <p:cNvPr id="249" name="Google Shape;249;p28"/>
          <p:cNvSpPr txBox="1"/>
          <p:nvPr/>
        </p:nvSpPr>
        <p:spPr>
          <a:xfrm>
            <a:off x="3326130" y="1432508"/>
            <a:ext cx="1165861" cy="12507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Data Quality</a:t>
            </a:r>
            <a:endParaRPr sz="1100"/>
          </a:p>
        </p:txBody>
      </p:sp>
      <p:sp>
        <p:nvSpPr>
          <p:cNvPr id="250" name="Google Shape;250;p28"/>
          <p:cNvSpPr txBox="1"/>
          <p:nvPr/>
        </p:nvSpPr>
        <p:spPr>
          <a:xfrm>
            <a:off x="4594859" y="1432508"/>
            <a:ext cx="1440181" cy="12507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Schema &amp; Contracts</a:t>
            </a:r>
            <a:endParaRPr sz="1100"/>
          </a:p>
        </p:txBody>
      </p:sp>
      <p:sp>
        <p:nvSpPr>
          <p:cNvPr id="251" name="Google Shape;251;p28"/>
          <p:cNvSpPr txBox="1"/>
          <p:nvPr/>
        </p:nvSpPr>
        <p:spPr>
          <a:xfrm>
            <a:off x="6137910" y="1432508"/>
            <a:ext cx="960121" cy="12507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94A3B8"/>
              </a:buClr>
              <a:buSzPts val="1000"/>
              <a:buFont typeface="Calibri"/>
              <a:buNone/>
            </a:pPr>
            <a:r>
              <a:rPr b="0" i="0" lang="en" sz="1000" u="none" cap="none" strike="noStrike">
                <a:solidFill>
                  <a:srgbClr val="94A3B8"/>
                </a:solidFill>
                <a:latin typeface="Calibri"/>
                <a:ea typeface="Calibri"/>
                <a:cs typeface="Calibri"/>
                <a:sym typeface="Calibri"/>
              </a:rPr>
              <a:t>Incidents</a:t>
            </a:r>
            <a:endParaRPr sz="1100"/>
          </a:p>
        </p:txBody>
      </p:sp>
      <p:sp>
        <p:nvSpPr>
          <p:cNvPr id="252" name="Google Shape;252;p28"/>
          <p:cNvSpPr/>
          <p:nvPr/>
        </p:nvSpPr>
        <p:spPr>
          <a:xfrm>
            <a:off x="582930" y="1748790"/>
            <a:ext cx="2194560" cy="2194560"/>
          </a:xfrm>
          <a:prstGeom prst="roundRect">
            <a:avLst>
              <a:gd fmla="val 2500" name="adj"/>
            </a:avLst>
          </a:prstGeom>
          <a:solidFill>
            <a:schemeClr val="accent6"/>
          </a:solidFill>
          <a:ln cap="flat" cmpd="sng" w="12700">
            <a:solidFill>
              <a:schemeClr val="accent6"/>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53" name="Google Shape;253;p28"/>
          <p:cNvSpPr txBox="1"/>
          <p:nvPr/>
        </p:nvSpPr>
        <p:spPr>
          <a:xfrm>
            <a:off x="754380" y="1851659"/>
            <a:ext cx="2057401" cy="1176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4A3B8"/>
              </a:buClr>
              <a:buSzPts val="900"/>
              <a:buFont typeface="Calibri"/>
              <a:buNone/>
            </a:pPr>
            <a:r>
              <a:rPr b="1" i="0" lang="en" sz="900" u="none" cap="none" strike="noStrike">
                <a:solidFill>
                  <a:srgbClr val="94A3B8"/>
                </a:solidFill>
                <a:latin typeface="Calibri"/>
                <a:ea typeface="Calibri"/>
                <a:cs typeface="Calibri"/>
                <a:sym typeface="Calibri"/>
              </a:rPr>
              <a:t>OVERALL DATA HEALTH</a:t>
            </a:r>
            <a:endParaRPr sz="1100"/>
          </a:p>
        </p:txBody>
      </p:sp>
      <p:sp>
        <p:nvSpPr>
          <p:cNvPr id="254" name="Google Shape;254;p28"/>
          <p:cNvSpPr txBox="1"/>
          <p:nvPr/>
        </p:nvSpPr>
        <p:spPr>
          <a:xfrm>
            <a:off x="754380" y="2331720"/>
            <a:ext cx="2057401" cy="5246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3"/>
              </a:buClr>
              <a:buSzPts val="5000"/>
              <a:buFont typeface="Calibri"/>
              <a:buNone/>
            </a:pPr>
            <a:r>
              <a:rPr b="1" i="0" lang="en" sz="5000" u="none" cap="none" strike="noStrike">
                <a:solidFill>
                  <a:schemeClr val="accent3"/>
                </a:solidFill>
                <a:latin typeface="Calibri"/>
                <a:ea typeface="Calibri"/>
                <a:cs typeface="Calibri"/>
                <a:sym typeface="Calibri"/>
              </a:rPr>
              <a:t>94%</a:t>
            </a:r>
            <a:endParaRPr sz="1100"/>
          </a:p>
        </p:txBody>
      </p:sp>
      <p:sp>
        <p:nvSpPr>
          <p:cNvPr id="255" name="Google Shape;255;p28"/>
          <p:cNvSpPr/>
          <p:nvPr/>
        </p:nvSpPr>
        <p:spPr>
          <a:xfrm>
            <a:off x="2914650" y="1748790"/>
            <a:ext cx="2537460" cy="2194560"/>
          </a:xfrm>
          <a:prstGeom prst="roundRect">
            <a:avLst>
              <a:gd fmla="val 2500" name="adj"/>
            </a:avLst>
          </a:prstGeom>
          <a:solidFill>
            <a:schemeClr val="accent6"/>
          </a:solidFill>
          <a:ln cap="flat" cmpd="sng" w="12700">
            <a:solidFill>
              <a:schemeClr val="accent6"/>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56" name="Google Shape;256;p28"/>
          <p:cNvSpPr txBox="1"/>
          <p:nvPr/>
        </p:nvSpPr>
        <p:spPr>
          <a:xfrm>
            <a:off x="3086100" y="1851659"/>
            <a:ext cx="2057401" cy="1176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4A3B8"/>
              </a:buClr>
              <a:buSzPts val="900"/>
              <a:buFont typeface="Calibri"/>
              <a:buNone/>
            </a:pPr>
            <a:r>
              <a:rPr b="1" i="0" lang="en" sz="900" u="none" cap="none" strike="noStrike">
                <a:solidFill>
                  <a:srgbClr val="94A3B8"/>
                </a:solidFill>
                <a:latin typeface="Calibri"/>
                <a:ea typeface="Calibri"/>
                <a:cs typeface="Calibri"/>
                <a:sym typeface="Calibri"/>
              </a:rPr>
              <a:t>FHIR RESOURCES</a:t>
            </a:r>
            <a:endParaRPr sz="1100"/>
          </a:p>
        </p:txBody>
      </p:sp>
      <p:sp>
        <p:nvSpPr>
          <p:cNvPr id="257" name="Google Shape;257;p28"/>
          <p:cNvSpPr txBox="1"/>
          <p:nvPr/>
        </p:nvSpPr>
        <p:spPr>
          <a:xfrm>
            <a:off x="3086100" y="2263140"/>
            <a:ext cx="1303021" cy="1420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Patient</a:t>
            </a:r>
            <a:endParaRPr sz="1100"/>
          </a:p>
        </p:txBody>
      </p:sp>
      <p:sp>
        <p:nvSpPr>
          <p:cNvPr id="258" name="Google Shape;258;p28"/>
          <p:cNvSpPr/>
          <p:nvPr/>
        </p:nvSpPr>
        <p:spPr>
          <a:xfrm>
            <a:off x="4320540" y="2194560"/>
            <a:ext cx="1028701" cy="288037"/>
          </a:xfrm>
          <a:prstGeom prst="roundRect">
            <a:avLst>
              <a:gd fmla="val 14286" name="adj"/>
            </a:avLst>
          </a:prstGeom>
          <a:solidFill>
            <a:schemeClr val="accent3">
              <a:alpha val="16078"/>
            </a:schemeClr>
          </a:solidFill>
          <a:ln cap="flat" cmpd="sng" w="12700">
            <a:solidFill>
              <a:schemeClr val="accent3"/>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59" name="Google Shape;259;p28"/>
          <p:cNvSpPr txBox="1"/>
          <p:nvPr/>
        </p:nvSpPr>
        <p:spPr>
          <a:xfrm>
            <a:off x="4320540" y="2283714"/>
            <a:ext cx="1028701" cy="100701"/>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3"/>
              </a:buClr>
              <a:buSzPts val="800"/>
              <a:buFont typeface="Calibri"/>
              <a:buNone/>
            </a:pPr>
            <a:r>
              <a:rPr b="1" i="0" lang="en" sz="800" u="none" cap="none" strike="noStrike">
                <a:solidFill>
                  <a:schemeClr val="accent3"/>
                </a:solidFill>
                <a:latin typeface="Calibri"/>
                <a:ea typeface="Calibri"/>
                <a:cs typeface="Calibri"/>
                <a:sym typeface="Calibri"/>
              </a:rPr>
              <a:t>● HEALTHY</a:t>
            </a:r>
            <a:endParaRPr sz="1100"/>
          </a:p>
        </p:txBody>
      </p:sp>
      <p:sp>
        <p:nvSpPr>
          <p:cNvPr id="260" name="Google Shape;260;p28"/>
          <p:cNvSpPr txBox="1"/>
          <p:nvPr/>
        </p:nvSpPr>
        <p:spPr>
          <a:xfrm>
            <a:off x="3086100" y="2811779"/>
            <a:ext cx="1303021" cy="1420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Observation</a:t>
            </a:r>
            <a:endParaRPr sz="1100"/>
          </a:p>
        </p:txBody>
      </p:sp>
      <p:sp>
        <p:nvSpPr>
          <p:cNvPr id="261" name="Google Shape;261;p28"/>
          <p:cNvSpPr/>
          <p:nvPr/>
        </p:nvSpPr>
        <p:spPr>
          <a:xfrm>
            <a:off x="4320540" y="2743200"/>
            <a:ext cx="1028701" cy="288037"/>
          </a:xfrm>
          <a:prstGeom prst="roundRect">
            <a:avLst>
              <a:gd fmla="val 14286" name="adj"/>
            </a:avLst>
          </a:prstGeom>
          <a:solidFill>
            <a:schemeClr val="accent4">
              <a:alpha val="16078"/>
            </a:schemeClr>
          </a:solidFill>
          <a:ln cap="flat" cmpd="sng" w="12700">
            <a:solidFill>
              <a:schemeClr val="accent4"/>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62" name="Google Shape;262;p28"/>
          <p:cNvSpPr txBox="1"/>
          <p:nvPr/>
        </p:nvSpPr>
        <p:spPr>
          <a:xfrm>
            <a:off x="4320540" y="2832354"/>
            <a:ext cx="1028701" cy="123159"/>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4"/>
              </a:buClr>
              <a:buSzPts val="800"/>
              <a:buFont typeface="Calibri"/>
              <a:buNone/>
            </a:pPr>
            <a:r>
              <a:rPr b="1" i="0" lang="en" sz="800" u="none" cap="none" strike="noStrike">
                <a:solidFill>
                  <a:schemeClr val="accent4"/>
                </a:solidFill>
                <a:latin typeface="Calibri"/>
                <a:ea typeface="Calibri"/>
                <a:cs typeface="Calibri"/>
                <a:sym typeface="Calibri"/>
              </a:rPr>
              <a:t>▲ WARNING</a:t>
            </a:r>
            <a:endParaRPr sz="1100"/>
          </a:p>
        </p:txBody>
      </p:sp>
      <p:sp>
        <p:nvSpPr>
          <p:cNvPr id="263" name="Google Shape;263;p28"/>
          <p:cNvSpPr txBox="1"/>
          <p:nvPr/>
        </p:nvSpPr>
        <p:spPr>
          <a:xfrm>
            <a:off x="3086100" y="3360419"/>
            <a:ext cx="1303021" cy="1420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1F5F9"/>
              </a:buClr>
              <a:buSzPts val="1100"/>
              <a:buFont typeface="Calibri"/>
              <a:buNone/>
            </a:pPr>
            <a:r>
              <a:rPr b="1" i="0" lang="en" sz="1100" u="none" cap="none" strike="noStrike">
                <a:solidFill>
                  <a:srgbClr val="F1F5F9"/>
                </a:solidFill>
                <a:latin typeface="Calibri"/>
                <a:ea typeface="Calibri"/>
                <a:cs typeface="Calibri"/>
                <a:sym typeface="Calibri"/>
              </a:rPr>
              <a:t>Encounter</a:t>
            </a:r>
            <a:endParaRPr sz="1100"/>
          </a:p>
        </p:txBody>
      </p:sp>
      <p:sp>
        <p:nvSpPr>
          <p:cNvPr id="264" name="Google Shape;264;p28"/>
          <p:cNvSpPr/>
          <p:nvPr/>
        </p:nvSpPr>
        <p:spPr>
          <a:xfrm>
            <a:off x="4320540" y="3291840"/>
            <a:ext cx="1028701" cy="288037"/>
          </a:xfrm>
          <a:prstGeom prst="roundRect">
            <a:avLst>
              <a:gd fmla="val 14286" name="adj"/>
            </a:avLst>
          </a:prstGeom>
          <a:solidFill>
            <a:schemeClr val="accent3">
              <a:alpha val="16078"/>
            </a:schemeClr>
          </a:solidFill>
          <a:ln cap="flat" cmpd="sng" w="12700">
            <a:solidFill>
              <a:schemeClr val="accent3"/>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65" name="Google Shape;265;p28"/>
          <p:cNvSpPr txBox="1"/>
          <p:nvPr/>
        </p:nvSpPr>
        <p:spPr>
          <a:xfrm>
            <a:off x="4320540" y="3380994"/>
            <a:ext cx="1028701" cy="10070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3"/>
              </a:buClr>
              <a:buSzPts val="800"/>
              <a:buFont typeface="Calibri"/>
              <a:buNone/>
            </a:pPr>
            <a:r>
              <a:rPr b="1" i="0" lang="en" sz="800" u="none" cap="none" strike="noStrike">
                <a:solidFill>
                  <a:schemeClr val="accent3"/>
                </a:solidFill>
                <a:latin typeface="Calibri"/>
                <a:ea typeface="Calibri"/>
                <a:cs typeface="Calibri"/>
                <a:sym typeface="Calibri"/>
              </a:rPr>
              <a:t>● HEALTHY</a:t>
            </a:r>
            <a:endParaRPr sz="1100"/>
          </a:p>
        </p:txBody>
      </p:sp>
      <p:sp>
        <p:nvSpPr>
          <p:cNvPr id="266" name="Google Shape;266;p28"/>
          <p:cNvSpPr/>
          <p:nvPr/>
        </p:nvSpPr>
        <p:spPr>
          <a:xfrm>
            <a:off x="5589270" y="1748790"/>
            <a:ext cx="2983229" cy="2194560"/>
          </a:xfrm>
          <a:prstGeom prst="roundRect">
            <a:avLst>
              <a:gd fmla="val 2500" name="adj"/>
            </a:avLst>
          </a:prstGeom>
          <a:solidFill>
            <a:schemeClr val="accent6"/>
          </a:solidFill>
          <a:ln cap="flat" cmpd="sng" w="19050">
            <a:solidFill>
              <a:schemeClr val="accent4"/>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67" name="Google Shape;267;p28"/>
          <p:cNvSpPr txBox="1"/>
          <p:nvPr/>
        </p:nvSpPr>
        <p:spPr>
          <a:xfrm>
            <a:off x="5760720" y="1851659"/>
            <a:ext cx="2057400" cy="1176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4"/>
              </a:buClr>
              <a:buSzPts val="900"/>
              <a:buFont typeface="Calibri"/>
              <a:buNone/>
            </a:pPr>
            <a:r>
              <a:rPr b="1" i="0" lang="en" sz="900" u="none" cap="none" strike="noStrike">
                <a:solidFill>
                  <a:schemeClr val="accent4"/>
                </a:solidFill>
                <a:latin typeface="Calibri"/>
                <a:ea typeface="Calibri"/>
                <a:cs typeface="Calibri"/>
                <a:sym typeface="Calibri"/>
              </a:rPr>
              <a:t>ACTIVE INCIDENT</a:t>
            </a:r>
            <a:endParaRPr sz="1100"/>
          </a:p>
        </p:txBody>
      </p:sp>
      <p:sp>
        <p:nvSpPr>
          <p:cNvPr id="268" name="Google Shape;268;p28"/>
          <p:cNvSpPr/>
          <p:nvPr/>
        </p:nvSpPr>
        <p:spPr>
          <a:xfrm>
            <a:off x="5760720" y="2125979"/>
            <a:ext cx="1714500" cy="274321"/>
          </a:xfrm>
          <a:prstGeom prst="roundRect">
            <a:avLst>
              <a:gd fmla="val 15000" name="adj"/>
            </a:avLst>
          </a:prstGeom>
          <a:solidFill>
            <a:schemeClr val="accent4">
              <a:alpha val="16078"/>
            </a:schemeClr>
          </a:solidFill>
          <a:ln cap="flat" cmpd="sng" w="12700">
            <a:solidFill>
              <a:schemeClr val="accent4"/>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69" name="Google Shape;269;p28"/>
          <p:cNvSpPr txBox="1"/>
          <p:nvPr/>
        </p:nvSpPr>
        <p:spPr>
          <a:xfrm>
            <a:off x="5760720" y="2198560"/>
            <a:ext cx="1714500" cy="129159"/>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chemeClr val="accent4"/>
              </a:buClr>
              <a:buSzPts val="900"/>
              <a:buFont typeface="Calibri"/>
              <a:buNone/>
            </a:pPr>
            <a:r>
              <a:rPr b="1" i="0" lang="en" sz="900" u="none" cap="none" strike="noStrike">
                <a:solidFill>
                  <a:schemeClr val="accent4"/>
                </a:solidFill>
                <a:latin typeface="Calibri"/>
                <a:ea typeface="Calibri"/>
                <a:cs typeface="Calibri"/>
                <a:sym typeface="Calibri"/>
              </a:rPr>
              <a:t>▲ NULL RATE DRIFT</a:t>
            </a:r>
            <a:endParaRPr sz="1100"/>
          </a:p>
        </p:txBody>
      </p:sp>
      <p:sp>
        <p:nvSpPr>
          <p:cNvPr id="270" name="Google Shape;270;p28"/>
          <p:cNvSpPr txBox="1"/>
          <p:nvPr/>
        </p:nvSpPr>
        <p:spPr>
          <a:xfrm>
            <a:off x="5760720" y="2537459"/>
            <a:ext cx="2331722" cy="104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1F5F9"/>
              </a:buClr>
              <a:buSzPts val="800"/>
              <a:buFont typeface="Courier New"/>
              <a:buNone/>
            </a:pPr>
            <a:r>
              <a:rPr b="0" i="0" lang="en" sz="800" u="none" cap="none" strike="noStrike">
                <a:solidFill>
                  <a:srgbClr val="F1F5F9"/>
                </a:solidFill>
                <a:latin typeface="Courier New"/>
                <a:ea typeface="Courier New"/>
                <a:cs typeface="Courier New"/>
                <a:sym typeface="Courier New"/>
              </a:rPr>
              <a:t>Observation.valueQuantity.unit</a:t>
            </a:r>
            <a:endParaRPr sz="1100"/>
          </a:p>
        </p:txBody>
      </p:sp>
      <p:sp>
        <p:nvSpPr>
          <p:cNvPr id="271" name="Google Shape;271;p28"/>
          <p:cNvSpPr txBox="1"/>
          <p:nvPr/>
        </p:nvSpPr>
        <p:spPr>
          <a:xfrm>
            <a:off x="5760720" y="2777490"/>
            <a:ext cx="2331722"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accent4"/>
              </a:buClr>
              <a:buSzPts val="2600"/>
              <a:buFont typeface="Calibri"/>
              <a:buNone/>
            </a:pPr>
            <a:r>
              <a:rPr b="1" i="0" lang="en" sz="2600" u="none" cap="none" strike="noStrike">
                <a:solidFill>
                  <a:schemeClr val="accent4"/>
                </a:solidFill>
                <a:latin typeface="Calibri"/>
                <a:ea typeface="Calibri"/>
                <a:cs typeface="Calibri"/>
                <a:sym typeface="Calibri"/>
              </a:rPr>
              <a:t>1.2%  →  38.7%</a:t>
            </a:r>
            <a:endParaRPr sz="1100"/>
          </a:p>
        </p:txBody>
      </p:sp>
      <p:sp>
        <p:nvSpPr>
          <p:cNvPr id="272" name="Google Shape;272;p28"/>
          <p:cNvSpPr txBox="1"/>
          <p:nvPr/>
        </p:nvSpPr>
        <p:spPr>
          <a:xfrm>
            <a:off x="5760720" y="3291840"/>
            <a:ext cx="2331722" cy="10070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baseline → current</a:t>
            </a:r>
            <a:endParaRPr sz="1100"/>
          </a:p>
        </p:txBody>
      </p:sp>
      <p:sp>
        <p:nvSpPr>
          <p:cNvPr id="273" name="Google Shape;273;p28"/>
          <p:cNvSpPr txBox="1"/>
          <p:nvPr/>
        </p:nvSpPr>
        <p:spPr>
          <a:xfrm>
            <a:off x="5760720" y="3566160"/>
            <a:ext cx="2331722" cy="11764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94A3B8"/>
              </a:buClr>
              <a:buSzPts val="900"/>
              <a:buFont typeface="Calibri"/>
              <a:buNone/>
            </a:pPr>
            <a:r>
              <a:rPr b="0" i="0" lang="en" sz="900" u="none" cap="none" strike="noStrike">
                <a:solidFill>
                  <a:srgbClr val="94A3B8"/>
                </a:solidFill>
                <a:latin typeface="Calibri"/>
                <a:ea typeface="Calibri"/>
                <a:cs typeface="Calibri"/>
                <a:sym typeface="Calibri"/>
              </a:rPr>
              <a:t>Detected 14:42  ·  OPEN</a:t>
            </a:r>
            <a:endParaRPr sz="1100"/>
          </a:p>
        </p:txBody>
      </p:sp>
      <p:sp>
        <p:nvSpPr>
          <p:cNvPr id="274" name="Google Shape;274;p28"/>
          <p:cNvSpPr txBox="1"/>
          <p:nvPr/>
        </p:nvSpPr>
        <p:spPr>
          <a:xfrm>
            <a:off x="5486400" y="4114800"/>
            <a:ext cx="3086100" cy="10280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94A3B8"/>
              </a:buClr>
              <a:buSzPts val="800"/>
              <a:buFont typeface="Calibri"/>
              <a:buNone/>
            </a:pPr>
            <a:r>
              <a:rPr b="0" i="0" lang="en" sz="800" u="none" cap="none" strike="noStrike">
                <a:solidFill>
                  <a:srgbClr val="94A3B8"/>
                </a:solidFill>
                <a:latin typeface="Calibri"/>
                <a:ea typeface="Calibri"/>
                <a:cs typeface="Calibri"/>
                <a:sym typeface="Calibri"/>
              </a:rPr>
              <a:t>Proposed design · example values</a:t>
            </a:r>
            <a:endParaRPr sz="1100"/>
          </a:p>
        </p:txBody>
      </p:sp>
      <p:sp>
        <p:nvSpPr>
          <p:cNvPr id="275" name="Google Shape;275;p28"/>
          <p:cNvSpPr/>
          <p:nvPr/>
        </p:nvSpPr>
        <p:spPr>
          <a:xfrm>
            <a:off x="411480" y="4320540"/>
            <a:ext cx="4320540" cy="342901"/>
          </a:xfrm>
          <a:prstGeom prst="roundRect">
            <a:avLst>
              <a:gd fmla="val 16000" name="adj"/>
            </a:avLst>
          </a:prstGeom>
          <a:solidFill>
            <a:srgbClr val="101D2E"/>
          </a:solidFill>
          <a:ln cap="flat" cmpd="sng" w="12700">
            <a:solidFill>
              <a:schemeClr val="accent1"/>
            </a:solidFill>
            <a:prstDash val="solid"/>
            <a:round/>
            <a:headEnd len="sm" w="sm" type="none"/>
            <a:tailEnd len="sm" w="sm" type="none"/>
          </a:ln>
        </p:spPr>
        <p:txBody>
          <a:bodyPr anchorCtr="0" anchor="t" bIns="34275" lIns="34275" spcFirstLastPara="1" rIns="34275" wrap="square" tIns="34275">
            <a:noAutofit/>
          </a:bodyPr>
          <a:lstStyle/>
          <a:p>
            <a:pPr indent="0" lvl="0" marL="0" marR="0" rtl="0" algn="l">
              <a:lnSpc>
                <a:spcPct val="100000"/>
              </a:lnSpc>
              <a:spcBef>
                <a:spcPts val="0"/>
              </a:spcBef>
              <a:spcAft>
                <a:spcPts val="0"/>
              </a:spcAft>
              <a:buClr>
                <a:srgbClr val="07111F"/>
              </a:buClr>
              <a:buSzPts val="1400"/>
              <a:buFont typeface="Calibri"/>
              <a:buNone/>
            </a:pPr>
            <a:r>
              <a:t/>
            </a:r>
            <a:endParaRPr b="0" i="0" sz="1400" u="none" cap="none" strike="noStrike">
              <a:solidFill>
                <a:srgbClr val="07111F"/>
              </a:solidFill>
              <a:latin typeface="Calibri"/>
              <a:ea typeface="Calibri"/>
              <a:cs typeface="Calibri"/>
              <a:sym typeface="Calibri"/>
            </a:endParaRPr>
          </a:p>
        </p:txBody>
      </p:sp>
      <p:sp>
        <p:nvSpPr>
          <p:cNvPr id="276" name="Google Shape;276;p28"/>
          <p:cNvSpPr txBox="1"/>
          <p:nvPr/>
        </p:nvSpPr>
        <p:spPr>
          <a:xfrm>
            <a:off x="582930" y="4429454"/>
            <a:ext cx="4114800" cy="1250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accent1"/>
              </a:buClr>
              <a:buSzPts val="1000"/>
              <a:buFont typeface="Calibri"/>
              <a:buNone/>
            </a:pPr>
            <a:r>
              <a:rPr b="1" i="0" lang="en" sz="1000" u="none" cap="none" strike="noStrike">
                <a:solidFill>
                  <a:schemeClr val="accent1"/>
                </a:solidFill>
                <a:latin typeface="Calibri"/>
                <a:ea typeface="Calibri"/>
                <a:cs typeface="Calibri"/>
                <a:sym typeface="Calibri"/>
              </a:rPr>
              <a:t>STREAM → OBSERVE → RESPOND   </a:t>
            </a:r>
            <a:r>
              <a:rPr b="0" i="0" lang="en" sz="1000" u="none" cap="none" strike="noStrike">
                <a:solidFill>
                  <a:srgbClr val="F1F5F9"/>
                </a:solidFill>
                <a:latin typeface="Calibri"/>
                <a:ea typeface="Calibri"/>
                <a:cs typeface="Calibri"/>
                <a:sym typeface="Calibri"/>
              </a:rPr>
              <a:t>Kafka → Data Health → Incidents</a:t>
            </a:r>
            <a:endParaRPr sz="1100"/>
          </a:p>
        </p:txBody>
      </p:sp>
      <p:sp>
        <p:nvSpPr>
          <p:cNvPr id="277" name="Google Shape;277;p28"/>
          <p:cNvSpPr txBox="1"/>
          <p:nvPr>
            <p:ph idx="4294967295" type="sldNum"/>
          </p:nvPr>
        </p:nvSpPr>
        <p:spPr>
          <a:xfrm>
            <a:off x="8230724" y="137159"/>
            <a:ext cx="136037" cy="186230"/>
          </a:xfrm>
          <a:prstGeom prst="rect">
            <a:avLst/>
          </a:prstGeom>
          <a:noFill/>
          <a:ln>
            <a:noFill/>
          </a:ln>
        </p:spPr>
        <p:txBody>
          <a:bodyPr anchorCtr="0" anchor="t" bIns="34275" lIns="34275" spcFirstLastPara="1" rIns="34275" wrap="square" tIns="34275">
            <a:spAutoFit/>
          </a:bodyPr>
          <a:lstStyle/>
          <a:p>
            <a:pPr indent="0" lvl="0" marL="0" rtl="0" algn="r">
              <a:lnSpc>
                <a:spcPct val="100000"/>
              </a:lnSpc>
              <a:spcBef>
                <a:spcPts val="0"/>
              </a:spcBef>
              <a:spcAft>
                <a:spcPts val="0"/>
              </a:spcAft>
              <a:buClr>
                <a:srgbClr val="94A3B8"/>
              </a:buClr>
              <a:buSzPts val="900"/>
              <a:buFont typeface="Calibri"/>
              <a:buNone/>
            </a:pPr>
            <a:fld id="{00000000-1234-1234-1234-123412341234}" type="slidenum">
              <a:rPr lang="en" sz="900">
                <a:solidFill>
                  <a:srgbClr val="94A3B8"/>
                </a:solidFill>
              </a:rP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txBox="1"/>
          <p:nvPr/>
        </p:nvSpPr>
        <p:spPr>
          <a:xfrm>
            <a:off x="2736749" y="2075400"/>
            <a:ext cx="3670500" cy="992700"/>
          </a:xfrm>
          <a:prstGeom prst="rect">
            <a:avLst/>
          </a:prstGeom>
          <a:noFill/>
          <a:ln>
            <a:noFill/>
          </a:ln>
        </p:spPr>
        <p:txBody>
          <a:bodyPr anchorCtr="0" anchor="t" bIns="34275" lIns="34275" spcFirstLastPara="1" rIns="34275" wrap="square" tIns="34275">
            <a:spAutoFit/>
          </a:bodyPr>
          <a:lstStyle/>
          <a:p>
            <a:pPr indent="0" lvl="0" marL="0" marR="0" rtl="0" algn="l">
              <a:lnSpc>
                <a:spcPct val="100000"/>
              </a:lnSpc>
              <a:spcBef>
                <a:spcPts val="0"/>
              </a:spcBef>
              <a:spcAft>
                <a:spcPts val="0"/>
              </a:spcAft>
              <a:buClr>
                <a:srgbClr val="FFFFFF"/>
              </a:buClr>
              <a:buSzPts val="6000"/>
              <a:buFont typeface="Calibri"/>
              <a:buNone/>
            </a:pPr>
            <a:r>
              <a:rPr b="0" i="0" lang="en" sz="6000" u="none" cap="none" strike="noStrike">
                <a:solidFill>
                  <a:srgbClr val="FFFFFF"/>
                </a:solidFill>
                <a:latin typeface="Calibri"/>
                <a:ea typeface="Calibri"/>
                <a:cs typeface="Calibri"/>
                <a:sym typeface="Calibri"/>
              </a:rPr>
              <a:t>Questions?</a:t>
            </a:r>
            <a:endParaRPr sz="1100"/>
          </a:p>
        </p:txBody>
      </p:sp>
      <p:pic>
        <p:nvPicPr>
          <p:cNvPr descr="image.png" id="283" name="Google Shape;283;p29"/>
          <p:cNvPicPr preferRelativeResize="0"/>
          <p:nvPr/>
        </p:nvPicPr>
        <p:blipFill rotWithShape="1">
          <a:blip r:embed="rId3">
            <a:alphaModFix/>
          </a:blip>
          <a:srcRect b="0" l="0" r="0" t="0"/>
          <a:stretch/>
        </p:blipFill>
        <p:spPr>
          <a:xfrm>
            <a:off x="4057535" y="994410"/>
            <a:ext cx="1028700" cy="102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entinel">
  <a:themeElements>
    <a:clrScheme name="Sentinel">
      <a:dk1>
        <a:srgbClr val="07111F"/>
      </a:dk1>
      <a:lt1>
        <a:srgbClr val="1F1C18"/>
      </a:lt1>
      <a:dk2>
        <a:srgbClr val="A7A7A7"/>
      </a:dk2>
      <a:lt2>
        <a:srgbClr val="535353"/>
      </a:lt2>
      <a:accent1>
        <a:srgbClr val="22D3EE"/>
      </a:accent1>
      <a:accent2>
        <a:srgbClr val="3B82F6"/>
      </a:accent2>
      <a:accent3>
        <a:srgbClr val="22C55E"/>
      </a:accent3>
      <a:accent4>
        <a:srgbClr val="F59E0B"/>
      </a:accent4>
      <a:accent5>
        <a:srgbClr val="F43F5E"/>
      </a:accent5>
      <a:accent6>
        <a:srgbClr val="17283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entinel">
  <a:themeElements>
    <a:clrScheme name="Sentinel">
      <a:dk1>
        <a:srgbClr val="07111F"/>
      </a:dk1>
      <a:lt1>
        <a:srgbClr val="1F1C18"/>
      </a:lt1>
      <a:dk2>
        <a:srgbClr val="A7A7A7"/>
      </a:dk2>
      <a:lt2>
        <a:srgbClr val="535353"/>
      </a:lt2>
      <a:accent1>
        <a:srgbClr val="22D3EE"/>
      </a:accent1>
      <a:accent2>
        <a:srgbClr val="3B82F6"/>
      </a:accent2>
      <a:accent3>
        <a:srgbClr val="22C55E"/>
      </a:accent3>
      <a:accent4>
        <a:srgbClr val="F59E0B"/>
      </a:accent4>
      <a:accent5>
        <a:srgbClr val="F43F5E"/>
      </a:accent5>
      <a:accent6>
        <a:srgbClr val="17283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